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5"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p:cViewPr varScale="1">
        <p:scale>
          <a:sx n="74" d="100"/>
          <a:sy n="74" d="100"/>
        </p:scale>
        <p:origin x="854" y="62"/>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9/10/2026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9/10/2026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9/10/2026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9/10/2026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jfif"/><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adishukla10/Seasonal-Agriculture-Performance-Analysis.git" TargetMode="External"/><Relationship Id="rId2" Type="http://schemas.openxmlformats.org/officeDocument/2006/relationships/image" Target="../media/image1.jfif"/><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1399563" y="3500010"/>
            <a:ext cx="9000376" cy="861497"/>
          </a:xfrm>
        </p:spPr>
        <p:txBody>
          <a:bodyPr vert="horz" lIns="91440" tIns="45720" rIns="91440" bIns="45720" rtlCol="0" anchor="t">
            <a:noAutofit/>
          </a:bodyPr>
          <a:lstStyle/>
          <a:p>
            <a:pPr algn="ctr"/>
            <a:r>
              <a:rPr lang="en-US" sz="2400" dirty="0">
                <a:solidFill>
                  <a:schemeClr val="accent2">
                    <a:lumMod val="75000"/>
                  </a:schemeClr>
                </a:solidFill>
                <a:latin typeface="Arial" panose="020B0604020202020204" pitchFamily="34" charset="0"/>
                <a:ea typeface="Calibri" panose="020F0502020204030204" pitchFamily="34" charset="0"/>
                <a:cs typeface="Arial" panose="020B0604020202020204" pitchFamily="34" charset="0"/>
              </a:rPr>
              <a:t>Aditya Shukla </a:t>
            </a:r>
            <a:endParaRPr lang="en-IN" sz="2400" dirty="0">
              <a:solidFill>
                <a:schemeClr val="accent2">
                  <a:lumMod val="75000"/>
                </a:schemeClr>
              </a:solidFill>
              <a:latin typeface="Arial" panose="020B0604020202020204" pitchFamily="34" charset="0"/>
              <a:ea typeface="Calibri" panose="020F0502020204030204" pitchFamily="34" charset="0"/>
              <a:cs typeface="Arial" panose="020B0604020202020204" pitchFamily="34" charset="0"/>
            </a:endParaRPr>
          </a:p>
          <a:p>
            <a:pPr algn="ctr"/>
            <a:r>
              <a:rPr lang="en-US" sz="2400" dirty="0">
                <a:solidFill>
                  <a:schemeClr val="accent2">
                    <a:lumMod val="75000"/>
                  </a:schemeClr>
                </a:solidFill>
                <a:latin typeface="Arial" panose="020B0604020202020204" pitchFamily="34" charset="0"/>
                <a:ea typeface="Calibri" panose="020F0502020204030204" pitchFamily="34" charset="0"/>
                <a:cs typeface="Arial" panose="020B0604020202020204" pitchFamily="34" charset="0"/>
              </a:rPr>
              <a:t>Modern Institute Of Technology &amp; Research Centre</a:t>
            </a:r>
            <a:endParaRPr lang="en-IN" sz="2400" dirty="0">
              <a:solidFill>
                <a:schemeClr val="accent2">
                  <a:lumMod val="75000"/>
                </a:schemeClr>
              </a:solidFill>
              <a:latin typeface="Arial" panose="020B0604020202020204" pitchFamily="34" charset="0"/>
              <a:ea typeface="Calibri" panose="020F0502020204030204" pitchFamily="34" charset="0"/>
              <a:cs typeface="Arial" panose="020B0604020202020204" pitchFamily="34" charset="0"/>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1551577" y="2614543"/>
            <a:ext cx="8848362" cy="743448"/>
          </a:xfrm>
        </p:spPr>
        <p:txBody>
          <a:bodyPr>
            <a:normAutofit/>
          </a:bodyPr>
          <a:lstStyle/>
          <a:p>
            <a:pPr algn="ctr"/>
            <a:r>
              <a:rPr lang="en-IN" sz="3200" b="1" dirty="0">
                <a:solidFill>
                  <a:srgbClr val="1F3763"/>
                </a:solidFill>
                <a:latin typeface="Arial"/>
              </a:rPr>
              <a:t>Seasonal Agriculture Performance Analysis</a:t>
            </a:r>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4134908" y="4656134"/>
            <a:ext cx="3529686" cy="646331"/>
          </a:xfrm>
          <a:prstGeom prst="rect">
            <a:avLst/>
          </a:prstGeom>
          <a:noFill/>
        </p:spPr>
        <p:txBody>
          <a:bodyPr wrap="square" rtlCol="0">
            <a:spAutoFit/>
          </a:bodyPr>
          <a:lstStyle/>
          <a:p>
            <a:pPr algn="ctr"/>
            <a:r>
              <a:rPr lang="en-US" b="1" dirty="0">
                <a:solidFill>
                  <a:schemeClr val="accent2">
                    <a:lumMod val="75000"/>
                  </a:schemeClr>
                </a:solidFill>
                <a:latin typeface="Arial" panose="020B0604020202020204" pitchFamily="34" charset="0"/>
                <a:ea typeface="Calibri" panose="020F0502020204030204" pitchFamily="34" charset="0"/>
                <a:cs typeface="Arial" panose="020B0604020202020204" pitchFamily="34" charset="0"/>
              </a:rPr>
              <a:t>AICTE STU ID </a:t>
            </a:r>
            <a:r>
              <a:rPr lang="en-IN" b="1" dirty="0">
                <a:solidFill>
                  <a:schemeClr val="accent2">
                    <a:lumMod val="75000"/>
                  </a:schemeClr>
                </a:solidFill>
                <a:latin typeface="Arial" panose="020B0604020202020204" pitchFamily="34" charset="0"/>
                <a:ea typeface="Calibri" panose="020F0502020204030204" pitchFamily="34" charset="0"/>
                <a:cs typeface="Arial" panose="020B0604020202020204" pitchFamily="34" charset="0"/>
              </a:rPr>
              <a:t>STU5f69d69ebf6e91600771742 </a:t>
            </a:r>
            <a:endParaRPr lang="en-US" b="1" dirty="0">
              <a:solidFill>
                <a:schemeClr val="accent2">
                  <a:lumMod val="75000"/>
                </a:schemeClr>
              </a:solidFill>
              <a:latin typeface="Arial" panose="020B0604020202020204" pitchFamily="34" charset="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14" presetClass="entr" presetSubtype="10" fill="hold" grpId="0" nodeType="clickEffect">
                                  <p:stCondLst>
                                    <p:cond delay="0"/>
                                  </p:stCondLst>
                                  <p:childTnLst>
                                    <p:set>
                                      <p:cBhvr>
                                        <p:cTn id="24" dur="1" fill="hold">
                                          <p:stCondLst>
                                            <p:cond delay="0"/>
                                          </p:stCondLst>
                                        </p:cTn>
                                        <p:tgtEl>
                                          <p:spTgt spid="2">
                                            <p:txEl>
                                              <p:pRg st="0" end="0"/>
                                            </p:txEl>
                                          </p:spTgt>
                                        </p:tgtEl>
                                        <p:attrNameLst>
                                          <p:attrName>style.visibility</p:attrName>
                                        </p:attrNameLst>
                                      </p:cBhvr>
                                      <p:to>
                                        <p:strVal val="visible"/>
                                      </p:to>
                                    </p:set>
                                    <p:animEffect transition="in" filter="randombar(horizontal)">
                                      <p:cBhvr>
                                        <p:cTn id="25" dur="500"/>
                                        <p:tgtEl>
                                          <p:spTgt spid="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754601" y="1593470"/>
            <a:ext cx="7241083" cy="4392838"/>
          </a:xfrm>
        </p:spPr>
        <p:txBody>
          <a:bodyPr vert="horz" lIns="91440" tIns="45720" rIns="91440" bIns="45720" rtlCol="0" anchor="t">
            <a:noAutofit/>
          </a:bodyPr>
          <a:lstStyle/>
          <a:p>
            <a:pPr>
              <a:lnSpc>
                <a:spcPct val="150000"/>
              </a:lnSpc>
            </a:pPr>
            <a:r>
              <a:rPr lang="en-US" sz="1800" dirty="0">
                <a:latin typeface="Arial" panose="020B0604020202020204" pitchFamily="34" charset="0"/>
                <a:ea typeface="Calibri" panose="020F0502020204030204" pitchFamily="34" charset="0"/>
                <a:cs typeface="Arial" panose="020B0604020202020204" pitchFamily="34" charset="0"/>
              </a:rPr>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 </a:t>
            </a:r>
            <a:endParaRPr lang="en-IN" sz="1800" dirty="0">
              <a:latin typeface="Arial" panose="020B0604020202020204" pitchFamily="34" charset="0"/>
              <a:ea typeface="Calibri" panose="020F0502020204030204" pitchFamily="34" charset="0"/>
              <a:cs typeface="Arial" panose="020B0604020202020204" pitchFamily="34" charset="0"/>
            </a:endParaRPr>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1" y="550417"/>
            <a:ext cx="9377939" cy="790111"/>
          </a:xfrm>
        </p:spPr>
        <p:txBody>
          <a:bodyPr>
            <a:normAutofit/>
          </a:bodyPr>
          <a:lstStyle/>
          <a:p>
            <a:r>
              <a:rPr lang="en-US" sz="4000" dirty="0">
                <a:solidFill>
                  <a:schemeClr val="accent2">
                    <a:lumMod val="75000"/>
                  </a:schemeClr>
                </a:solidFill>
                <a:latin typeface="Arial" panose="020B0604020202020204" pitchFamily="34" charset="0"/>
                <a:cs typeface="Arial" panose="020B0604020202020204" pitchFamily="34" charset="0"/>
              </a:rPr>
              <a:t>PROBLEM  STATEMENT</a:t>
            </a:r>
            <a:endParaRPr lang="en-IN" sz="4000" dirty="0">
              <a:solidFill>
                <a:schemeClr val="accent2">
                  <a:lumMod val="75000"/>
                </a:schemeClr>
              </a:solidFill>
              <a:latin typeface="Arial" panose="020B0604020202020204" pitchFamily="34" charset="0"/>
              <a:cs typeface="Arial" panose="020B0604020202020204" pitchFamily="34" charset="0"/>
            </a:endParaRPr>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10007601" cy="830997"/>
          </a:xfrm>
        </p:spPr>
        <p:txBody>
          <a:bodyPr>
            <a:normAutofit fontScale="90000"/>
          </a:bodyPr>
          <a:lstStyle/>
          <a:p>
            <a:pPr>
              <a:lnSpc>
                <a:spcPct val="150000"/>
              </a:lnSpc>
            </a:pPr>
            <a:r>
              <a:rPr lang="en-GB" sz="4400" dirty="0">
                <a:solidFill>
                  <a:schemeClr val="accent2">
                    <a:lumMod val="75000"/>
                  </a:schemeClr>
                </a:solidFill>
                <a:latin typeface="Arial" panose="020B0604020202020204" pitchFamily="34" charset="0"/>
                <a:cs typeface="Arial" panose="020B0604020202020204" pitchFamily="34" charset="0"/>
              </a:rPr>
              <a:t>Project Description</a:t>
            </a:r>
            <a:br>
              <a:rPr lang="en-GB" dirty="0"/>
            </a:br>
            <a:r>
              <a:rPr lang="en-US" sz="2200" b="0" dirty="0">
                <a:solidFill>
                  <a:srgbClr val="282828"/>
                </a:solidFill>
                <a:latin typeface="Arial"/>
              </a:rPr>
              <a:t>The project performs an end-to-end analysis of agricultural performance across Kharif, Rabi and Zaid seasons. The dataset is explored and cleaned using Python and Pandas, followed by descriptive analysis, correlation analysis, seasonal comparisons, crop-wise and state-wise analysis, statistical testing and visualizations.</a:t>
            </a: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61760"/>
            <a:ext cx="2255921" cy="203200"/>
          </a:xfrm>
          <a:prstGeom prst="rect">
            <a:avLst/>
          </a:prstGeom>
        </p:spPr>
      </p:pic>
      <p:sp>
        <p:nvSpPr>
          <p:cNvPr id="7" name="Rounded Rectangle 10">
            <a:extLst>
              <a:ext uri="{FF2B5EF4-FFF2-40B4-BE49-F238E27FC236}">
                <a16:creationId xmlns:a16="http://schemas.microsoft.com/office/drawing/2014/main" id="{EED53DDD-1630-442B-BCA8-311C49123976}"/>
              </a:ext>
            </a:extLst>
          </p:cNvPr>
          <p:cNvSpPr/>
          <p:nvPr/>
        </p:nvSpPr>
        <p:spPr>
          <a:xfrm>
            <a:off x="675957" y="4309775"/>
            <a:ext cx="3315547" cy="1572904"/>
          </a:xfrm>
          <a:prstGeom prst="roundRect">
            <a:avLst/>
          </a:prstGeom>
          <a:solidFill>
            <a:srgbClr val="EBF1FA"/>
          </a:solidFill>
          <a:ln>
            <a:solidFill>
              <a:srgbClr val="2F5496"/>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dirty="0">
                <a:solidFill>
                  <a:srgbClr val="1F3763"/>
                </a:solidFill>
                <a:latin typeface="Arial"/>
              </a:rPr>
              <a:t>Dataset</a:t>
            </a:r>
          </a:p>
          <a:p>
            <a:r>
              <a:rPr lang="en-IN" sz="1300" dirty="0">
                <a:solidFill>
                  <a:srgbClr val="282828"/>
                </a:solidFill>
                <a:latin typeface="Arial"/>
              </a:rPr>
              <a:t>4000</a:t>
            </a:r>
            <a:r>
              <a:rPr sz="1300" dirty="0">
                <a:solidFill>
                  <a:srgbClr val="282828"/>
                </a:solidFill>
                <a:latin typeface="Arial"/>
              </a:rPr>
              <a:t> records
8 crops • 8 states • 3 seasons</a:t>
            </a:r>
          </a:p>
        </p:txBody>
      </p:sp>
      <p:pic>
        <p:nvPicPr>
          <p:cNvPr id="2" name="Picture 1">
            <a:extLst>
              <a:ext uri="{FF2B5EF4-FFF2-40B4-BE49-F238E27FC236}">
                <a16:creationId xmlns:a16="http://schemas.microsoft.com/office/drawing/2014/main" id="{D609CBF7-555E-4943-B0C7-2D383FCC2F4A}"/>
              </a:ext>
            </a:extLst>
          </p:cNvPr>
          <p:cNvPicPr>
            <a:picLocks noChangeAspect="1"/>
          </p:cNvPicPr>
          <p:nvPr/>
        </p:nvPicPr>
        <p:blipFill>
          <a:blip r:embed="rId3"/>
          <a:stretch>
            <a:fillRect/>
          </a:stretch>
        </p:blipFill>
        <p:spPr>
          <a:xfrm>
            <a:off x="4145831" y="4309775"/>
            <a:ext cx="3334801" cy="1572904"/>
          </a:xfrm>
          <a:prstGeom prst="rect">
            <a:avLst/>
          </a:prstGeom>
        </p:spPr>
      </p:pic>
      <p:pic>
        <p:nvPicPr>
          <p:cNvPr id="4" name="Picture 3">
            <a:extLst>
              <a:ext uri="{FF2B5EF4-FFF2-40B4-BE49-F238E27FC236}">
                <a16:creationId xmlns:a16="http://schemas.microsoft.com/office/drawing/2014/main" id="{F2CB73AE-DBF5-4703-9ADD-56CED14DCB7B}"/>
              </a:ext>
            </a:extLst>
          </p:cNvPr>
          <p:cNvPicPr>
            <a:picLocks noChangeAspect="1"/>
          </p:cNvPicPr>
          <p:nvPr/>
        </p:nvPicPr>
        <p:blipFill>
          <a:blip r:embed="rId4"/>
          <a:stretch>
            <a:fillRect/>
          </a:stretch>
        </p:blipFill>
        <p:spPr>
          <a:xfrm>
            <a:off x="7634959" y="4309775"/>
            <a:ext cx="3493311" cy="1469263"/>
          </a:xfrm>
          <a:prstGeom prst="rect">
            <a:avLst/>
          </a:prstGeom>
        </p:spPr>
      </p:pic>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991360"/>
            <a:ext cx="10548003" cy="3990023"/>
          </a:xfrm>
        </p:spPr>
        <p:txBody>
          <a:bodyPr>
            <a:normAutofit/>
          </a:bodyPr>
          <a:lstStyle/>
          <a:p>
            <a:pPr>
              <a:lnSpc>
                <a:spcPct val="170000"/>
              </a:lnSpc>
              <a:spcAft>
                <a:spcPts val="600"/>
              </a:spcAft>
            </a:pPr>
            <a:r>
              <a:rPr lang="en-US" dirty="0">
                <a:solidFill>
                  <a:srgbClr val="282828"/>
                </a:solidFill>
                <a:latin typeface="Arial"/>
              </a:rPr>
              <a:t>Farmers and farm managers – support seasonal crop and resource planning.</a:t>
            </a:r>
          </a:p>
          <a:p>
            <a:pPr>
              <a:lnSpc>
                <a:spcPct val="170000"/>
              </a:lnSpc>
              <a:spcAft>
                <a:spcPts val="600"/>
              </a:spcAft>
            </a:pPr>
            <a:r>
              <a:rPr lang="en-US" dirty="0">
                <a:solidFill>
                  <a:srgbClr val="282828"/>
                </a:solidFill>
                <a:latin typeface="Arial"/>
              </a:rPr>
              <a:t>Agricultural planners – compare seasonal performance and profitability.</a:t>
            </a:r>
          </a:p>
          <a:p>
            <a:pPr>
              <a:lnSpc>
                <a:spcPct val="170000"/>
              </a:lnSpc>
              <a:spcAft>
                <a:spcPts val="600"/>
              </a:spcAft>
            </a:pPr>
            <a:r>
              <a:rPr lang="en-US" dirty="0">
                <a:solidFill>
                  <a:srgbClr val="282828"/>
                </a:solidFill>
                <a:latin typeface="Arial"/>
              </a:rPr>
              <a:t>Irrigation and resource managers – monitor water usage and efficiency.</a:t>
            </a:r>
          </a:p>
          <a:p>
            <a:pPr>
              <a:lnSpc>
                <a:spcPct val="170000"/>
              </a:lnSpc>
              <a:spcAft>
                <a:spcPts val="600"/>
              </a:spcAft>
            </a:pPr>
            <a:r>
              <a:rPr lang="en-US" dirty="0">
                <a:solidFill>
                  <a:srgbClr val="282828"/>
                </a:solidFill>
                <a:latin typeface="Arial"/>
              </a:rPr>
              <a:t>Agricultural analysts and researchers – study seasonal and regional patterns.</a:t>
            </a:r>
          </a:p>
          <a:p>
            <a:pPr>
              <a:lnSpc>
                <a:spcPct val="170000"/>
              </a:lnSpc>
              <a:spcAft>
                <a:spcPts val="600"/>
              </a:spcAft>
            </a:pPr>
            <a:r>
              <a:rPr lang="en-US" dirty="0">
                <a:solidFill>
                  <a:srgbClr val="282828"/>
                </a:solidFill>
                <a:latin typeface="Arial"/>
              </a:rPr>
              <a:t>Policy and development stakeholders – support evidence-based agricultural planning.</a:t>
            </a:r>
            <a:endParaRPr lang="en-IN" dirty="0"/>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solidFill>
                  <a:schemeClr val="accent2">
                    <a:lumMod val="75000"/>
                  </a:schemeClr>
                </a:solidFill>
                <a:latin typeface="Arial" panose="020B0604020202020204" pitchFamily="34" charset="0"/>
                <a:cs typeface="Arial" panose="020B0604020202020204" pitchFamily="34" charset="0"/>
              </a:rPr>
              <a:t>WHO ARE THE END USERS?</a:t>
            </a:r>
            <a:endParaRPr lang="en-IN" sz="2000" dirty="0">
              <a:solidFill>
                <a:schemeClr val="accent2">
                  <a:lumMod val="75000"/>
                </a:schemeClr>
              </a:solidFill>
              <a:latin typeface="Arial" panose="020B0604020202020204" pitchFamily="34" charset="0"/>
              <a:cs typeface="Arial" panose="020B0604020202020204" pitchFamily="34" charset="0"/>
            </a:endParaRPr>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4" end="4"/>
                                            </p:txEl>
                                          </p:spTgt>
                                        </p:tgtEl>
                                        <p:attrNameLst>
                                          <p:attrName>style.visibility</p:attrName>
                                        </p:attrNameLst>
                                      </p:cBhvr>
                                      <p:to>
                                        <p:strVal val="visible"/>
                                      </p:to>
                                    </p:set>
                                    <p:animEffect transition="in" filter="fade">
                                      <p:cBhvr>
                                        <p:cTn id="42" dur="1000"/>
                                        <p:tgtEl>
                                          <p:spTgt spid="2">
                                            <p:txEl>
                                              <p:pRg st="4" end="4"/>
                                            </p:txEl>
                                          </p:spTgt>
                                        </p:tgtEl>
                                      </p:cBhvr>
                                    </p:animEffect>
                                    <p:anim calcmode="lin" valueType="num">
                                      <p:cBhvr>
                                        <p:cTn id="43"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390618" y="1432560"/>
            <a:ext cx="10734582" cy="5243448"/>
          </a:xfrm>
        </p:spPr>
        <p:txBody>
          <a:bodyPr>
            <a:normAutofit/>
          </a:bodyPr>
          <a:lstStyle/>
          <a:p>
            <a:pPr>
              <a:spcAft>
                <a:spcPts val="600"/>
              </a:spcAft>
            </a:pPr>
            <a:r>
              <a:rPr lang="en-IN" b="1" dirty="0">
                <a:solidFill>
                  <a:srgbClr val="282828"/>
                </a:solidFill>
                <a:latin typeface="Arial"/>
              </a:rPr>
              <a:t>Python – primary programming language for analysis.</a:t>
            </a:r>
          </a:p>
          <a:p>
            <a:pPr>
              <a:spcAft>
                <a:spcPts val="600"/>
              </a:spcAft>
            </a:pPr>
            <a:r>
              <a:rPr lang="en-IN" b="1" dirty="0">
                <a:solidFill>
                  <a:srgbClr val="282828"/>
                </a:solidFill>
                <a:latin typeface="Arial"/>
              </a:rPr>
              <a:t>Pandas – data loading, cleaning, grouping and aggregation.</a:t>
            </a:r>
          </a:p>
          <a:p>
            <a:pPr>
              <a:spcAft>
                <a:spcPts val="600"/>
              </a:spcAft>
            </a:pPr>
            <a:r>
              <a:rPr lang="en-IN" b="1" dirty="0">
                <a:solidFill>
                  <a:srgbClr val="282828"/>
                </a:solidFill>
                <a:latin typeface="Arial"/>
              </a:rPr>
              <a:t>NumPy – numerical operations.</a:t>
            </a:r>
          </a:p>
          <a:p>
            <a:pPr>
              <a:spcAft>
                <a:spcPts val="600"/>
              </a:spcAft>
            </a:pPr>
            <a:r>
              <a:rPr lang="en-IN" b="1" dirty="0">
                <a:solidFill>
                  <a:srgbClr val="282828"/>
                </a:solidFill>
                <a:latin typeface="Arial"/>
              </a:rPr>
              <a:t>Matplotlib and Seaborn – charts, comparisons and heatmaps.</a:t>
            </a:r>
          </a:p>
          <a:p>
            <a:pPr>
              <a:spcAft>
                <a:spcPts val="600"/>
              </a:spcAft>
            </a:pPr>
            <a:r>
              <a:rPr lang="en-IN" b="1" dirty="0">
                <a:solidFill>
                  <a:srgbClr val="282828"/>
                </a:solidFill>
                <a:latin typeface="Arial"/>
              </a:rPr>
              <a:t>Jupyter Notebook – analysis, documentation and reproducible workflow.</a:t>
            </a:r>
          </a:p>
          <a:p>
            <a:pPr>
              <a:spcAft>
                <a:spcPts val="600"/>
              </a:spcAft>
            </a:pPr>
            <a:r>
              <a:rPr lang="en-IN" b="1" dirty="0">
                <a:solidFill>
                  <a:srgbClr val="282828"/>
                </a:solidFill>
                <a:latin typeface="Arial"/>
              </a:rPr>
              <a:t>Statistical techniques – correlation analysis and one-way ANOVA.</a:t>
            </a:r>
          </a:p>
          <a:p>
            <a:pPr>
              <a:spcAft>
                <a:spcPts val="600"/>
              </a:spcAft>
            </a:pPr>
            <a:br>
              <a:rPr lang="en-IN" sz="100" b="1" dirty="0">
                <a:solidFill>
                  <a:srgbClr val="282828"/>
                </a:solidFill>
                <a:latin typeface="Arial"/>
              </a:rPr>
            </a:br>
            <a:r>
              <a:rPr lang="en-US" b="1" dirty="0">
                <a:solidFill>
                  <a:srgbClr val="282828"/>
                </a:solidFill>
                <a:latin typeface="Arial"/>
              </a:rPr>
              <a:t>Visual Studio Code (VS Code) – development environment used to run and manage the Jupyter Notebook</a:t>
            </a:r>
            <a:endParaRPr lang="en-IN" b="1" dirty="0">
              <a:solidFill>
                <a:srgbClr val="282828"/>
              </a:solidFill>
              <a:latin typeface="Arial"/>
            </a:endParaRPr>
          </a:p>
          <a:p>
            <a:pPr lvl="1">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7581558" cy="847817"/>
          </a:xfrm>
        </p:spPr>
        <p:txBody>
          <a:bodyPr>
            <a:normAutofit/>
          </a:bodyPr>
          <a:lstStyle/>
          <a:p>
            <a:r>
              <a:rPr lang="en-US" sz="4000" dirty="0">
                <a:solidFill>
                  <a:schemeClr val="accent2">
                    <a:lumMod val="75000"/>
                  </a:schemeClr>
                </a:solidFill>
                <a:latin typeface="Arial" panose="020B0604020202020204" pitchFamily="34" charset="0"/>
                <a:cs typeface="Arial" panose="020B0604020202020204" pitchFamily="34" charset="0"/>
              </a:rPr>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1" end="1"/>
                                            </p:txEl>
                                          </p:spTgt>
                                        </p:tgtEl>
                                        <p:attrNameLst>
                                          <p:attrName>style.visibility</p:attrName>
                                        </p:attrNameLst>
                                      </p:cBhvr>
                                      <p:to>
                                        <p:strVal val="visible"/>
                                      </p:to>
                                    </p:set>
                                    <p:animEffect transition="in" filter="fade">
                                      <p:cBhvr>
                                        <p:cTn id="21" dur="1000"/>
                                        <p:tgtEl>
                                          <p:spTgt spid="7">
                                            <p:txEl>
                                              <p:pRg st="1" end="1"/>
                                            </p:txEl>
                                          </p:spTgt>
                                        </p:tgtEl>
                                      </p:cBhvr>
                                    </p:animEffect>
                                    <p:anim calcmode="lin" valueType="num">
                                      <p:cBhvr>
                                        <p:cTn id="22"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2" end="2"/>
                                            </p:txEl>
                                          </p:spTgt>
                                        </p:tgtEl>
                                        <p:attrNameLst>
                                          <p:attrName>style.visibility</p:attrName>
                                        </p:attrNameLst>
                                      </p:cBhvr>
                                      <p:to>
                                        <p:strVal val="visible"/>
                                      </p:to>
                                    </p:set>
                                    <p:animEffect transition="in" filter="fade">
                                      <p:cBhvr>
                                        <p:cTn id="28" dur="1000"/>
                                        <p:tgtEl>
                                          <p:spTgt spid="7">
                                            <p:txEl>
                                              <p:pRg st="2" end="2"/>
                                            </p:txEl>
                                          </p:spTgt>
                                        </p:tgtEl>
                                      </p:cBhvr>
                                    </p:animEffect>
                                    <p:anim calcmode="lin" valueType="num">
                                      <p:cBhvr>
                                        <p:cTn id="29"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3" end="3"/>
                                            </p:txEl>
                                          </p:spTgt>
                                        </p:tgtEl>
                                        <p:attrNameLst>
                                          <p:attrName>style.visibility</p:attrName>
                                        </p:attrNameLst>
                                      </p:cBhvr>
                                      <p:to>
                                        <p:strVal val="visible"/>
                                      </p:to>
                                    </p:set>
                                    <p:animEffect transition="in" filter="fade">
                                      <p:cBhvr>
                                        <p:cTn id="35" dur="1000"/>
                                        <p:tgtEl>
                                          <p:spTgt spid="7">
                                            <p:txEl>
                                              <p:pRg st="3" end="3"/>
                                            </p:txEl>
                                          </p:spTgt>
                                        </p:tgtEl>
                                      </p:cBhvr>
                                    </p:animEffect>
                                    <p:anim calcmode="lin" valueType="num">
                                      <p:cBhvr>
                                        <p:cTn id="36"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7">
                                            <p:txEl>
                                              <p:pRg st="4" end="4"/>
                                            </p:txEl>
                                          </p:spTgt>
                                        </p:tgtEl>
                                        <p:attrNameLst>
                                          <p:attrName>style.visibility</p:attrName>
                                        </p:attrNameLst>
                                      </p:cBhvr>
                                      <p:to>
                                        <p:strVal val="visible"/>
                                      </p:to>
                                    </p:set>
                                    <p:animEffect transition="in" filter="fade">
                                      <p:cBhvr>
                                        <p:cTn id="42" dur="1000"/>
                                        <p:tgtEl>
                                          <p:spTgt spid="7">
                                            <p:txEl>
                                              <p:pRg st="4" end="4"/>
                                            </p:txEl>
                                          </p:spTgt>
                                        </p:tgtEl>
                                      </p:cBhvr>
                                    </p:animEffect>
                                    <p:anim calcmode="lin" valueType="num">
                                      <p:cBhvr>
                                        <p:cTn id="4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7">
                                            <p:txEl>
                                              <p:pRg st="5" end="5"/>
                                            </p:txEl>
                                          </p:spTgt>
                                        </p:tgtEl>
                                        <p:attrNameLst>
                                          <p:attrName>style.visibility</p:attrName>
                                        </p:attrNameLst>
                                      </p:cBhvr>
                                      <p:to>
                                        <p:strVal val="visible"/>
                                      </p:to>
                                    </p:set>
                                    <p:animEffect transition="in" filter="fade">
                                      <p:cBhvr>
                                        <p:cTn id="49" dur="1000"/>
                                        <p:tgtEl>
                                          <p:spTgt spid="7">
                                            <p:txEl>
                                              <p:pRg st="5" end="5"/>
                                            </p:txEl>
                                          </p:spTgt>
                                        </p:tgtEl>
                                      </p:cBhvr>
                                    </p:animEffect>
                                    <p:anim calcmode="lin" valueType="num">
                                      <p:cBhvr>
                                        <p:cTn id="50"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7">
                                            <p:txEl>
                                              <p:pRg st="6" end="6"/>
                                            </p:txEl>
                                          </p:spTgt>
                                        </p:tgtEl>
                                        <p:attrNameLst>
                                          <p:attrName>style.visibility</p:attrName>
                                        </p:attrNameLst>
                                      </p:cBhvr>
                                      <p:to>
                                        <p:strVal val="visible"/>
                                      </p:to>
                                    </p:set>
                                    <p:animEffect transition="in" filter="fade">
                                      <p:cBhvr>
                                        <p:cTn id="56" dur="1000"/>
                                        <p:tgtEl>
                                          <p:spTgt spid="7">
                                            <p:txEl>
                                              <p:pRg st="6" end="6"/>
                                            </p:txEl>
                                          </p:spTgt>
                                        </p:tgtEl>
                                      </p:cBhvr>
                                    </p:animEffect>
                                    <p:anim calcmode="lin" valueType="num">
                                      <p:cBhvr>
                                        <p:cTn id="57"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58"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11007552" cy="830997"/>
          </a:xfrm>
        </p:spPr>
        <p:txBody>
          <a:bodyPr>
            <a:normAutofit fontScale="90000"/>
          </a:bodyPr>
          <a:lstStyle/>
          <a:p>
            <a:r>
              <a:rPr lang="en-IN" sz="2700" dirty="0">
                <a:solidFill>
                  <a:srgbClr val="1F3763"/>
                </a:solidFill>
                <a:latin typeface="Arial"/>
              </a:rPr>
              <a:t>RESULTS – SEASONAL PERFORMANCE</a:t>
            </a:r>
            <a:br>
              <a:rPr lang="en-IN" dirty="0">
                <a:solidFill>
                  <a:srgbClr val="1F3763"/>
                </a:solidFill>
                <a:latin typeface="Arial"/>
              </a:rPr>
            </a:br>
            <a:r>
              <a:rPr lang="en-GB" dirty="0"/>
              <a:t>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6" name="Picture 5">
            <a:extLst>
              <a:ext uri="{FF2B5EF4-FFF2-40B4-BE49-F238E27FC236}">
                <a16:creationId xmlns:a16="http://schemas.microsoft.com/office/drawing/2014/main" id="{E9722F4A-BF46-4A11-86E1-B22A354623E0}"/>
              </a:ext>
            </a:extLst>
          </p:cNvPr>
          <p:cNvPicPr>
            <a:picLocks noChangeAspect="1"/>
          </p:cNvPicPr>
          <p:nvPr/>
        </p:nvPicPr>
        <p:blipFill>
          <a:blip r:embed="rId3"/>
          <a:stretch>
            <a:fillRect/>
          </a:stretch>
        </p:blipFill>
        <p:spPr>
          <a:xfrm>
            <a:off x="6197111" y="1275371"/>
            <a:ext cx="1743607" cy="1170533"/>
          </a:xfrm>
          <a:prstGeom prst="rect">
            <a:avLst/>
          </a:prstGeom>
        </p:spPr>
      </p:pic>
      <p:sp>
        <p:nvSpPr>
          <p:cNvPr id="3" name="Text Placeholder 2">
            <a:extLst>
              <a:ext uri="{FF2B5EF4-FFF2-40B4-BE49-F238E27FC236}">
                <a16:creationId xmlns:a16="http://schemas.microsoft.com/office/drawing/2014/main" id="{5CA8FB68-4E71-4559-8254-0BCF531E6D4D}"/>
              </a:ext>
            </a:extLst>
          </p:cNvPr>
          <p:cNvSpPr>
            <a:spLocks noGrp="1"/>
          </p:cNvSpPr>
          <p:nvPr>
            <p:ph type="body" sz="quarter" idx="12"/>
          </p:nvPr>
        </p:nvSpPr>
        <p:spPr>
          <a:xfrm>
            <a:off x="6197111" y="2923673"/>
            <a:ext cx="5486398" cy="3548247"/>
          </a:xfrm>
        </p:spPr>
        <p:txBody>
          <a:bodyPr/>
          <a:lstStyle/>
          <a:p>
            <a:pPr>
              <a:spcAft>
                <a:spcPts val="600"/>
              </a:spcAft>
            </a:pPr>
            <a:r>
              <a:rPr lang="en-US" sz="2000" dirty="0">
                <a:solidFill>
                  <a:srgbClr val="282828"/>
                </a:solidFill>
                <a:latin typeface="Arial"/>
              </a:rPr>
              <a:t>Kharif recorded the highest descriptive average yield.</a:t>
            </a:r>
          </a:p>
          <a:p>
            <a:pPr>
              <a:spcAft>
                <a:spcPts val="600"/>
              </a:spcAft>
            </a:pPr>
            <a:r>
              <a:rPr lang="en-US" sz="2000" dirty="0">
                <a:solidFill>
                  <a:srgbClr val="282828"/>
                </a:solidFill>
                <a:latin typeface="Arial"/>
              </a:rPr>
              <a:t>Rabi ranked second and Zaid ranked third.</a:t>
            </a:r>
          </a:p>
          <a:p>
            <a:pPr>
              <a:spcAft>
                <a:spcPts val="600"/>
              </a:spcAft>
            </a:pPr>
            <a:r>
              <a:rPr lang="en-US" sz="2000" dirty="0">
                <a:solidFill>
                  <a:srgbClr val="282828"/>
                </a:solidFill>
                <a:latin typeface="Arial"/>
              </a:rPr>
              <a:t>Yield ANOVA: p = 0.233.</a:t>
            </a:r>
          </a:p>
          <a:p>
            <a:pPr>
              <a:spcAft>
                <a:spcPts val="600"/>
              </a:spcAft>
            </a:pPr>
            <a:r>
              <a:rPr lang="en-US" sz="2000" dirty="0">
                <a:solidFill>
                  <a:srgbClr val="282828"/>
                </a:solidFill>
                <a:latin typeface="Arial"/>
              </a:rPr>
              <a:t>Seasonal yield differences were not statistically significant at the 5% level.</a:t>
            </a:r>
          </a:p>
          <a:p>
            <a:endParaRPr lang="hi-IN" dirty="0"/>
          </a:p>
        </p:txBody>
      </p:sp>
      <p:pic>
        <p:nvPicPr>
          <p:cNvPr id="9" name="Picture 8" descr="yield.png">
            <a:extLst>
              <a:ext uri="{FF2B5EF4-FFF2-40B4-BE49-F238E27FC236}">
                <a16:creationId xmlns:a16="http://schemas.microsoft.com/office/drawing/2014/main" id="{5BB1A2FB-D872-4664-9398-23958D2C62B6}"/>
              </a:ext>
            </a:extLst>
          </p:cNvPr>
          <p:cNvPicPr>
            <a:picLocks noChangeAspect="1"/>
          </p:cNvPicPr>
          <p:nvPr/>
        </p:nvPicPr>
        <p:blipFill>
          <a:blip r:embed="rId4"/>
          <a:stretch>
            <a:fillRect/>
          </a:stretch>
        </p:blipFill>
        <p:spPr>
          <a:xfrm>
            <a:off x="508491" y="1275371"/>
            <a:ext cx="5486400" cy="3927368"/>
          </a:xfrm>
          <a:prstGeom prst="rect">
            <a:avLst/>
          </a:prstGeom>
        </p:spPr>
      </p:pic>
      <p:pic>
        <p:nvPicPr>
          <p:cNvPr id="12" name="Picture 11">
            <a:extLst>
              <a:ext uri="{FF2B5EF4-FFF2-40B4-BE49-F238E27FC236}">
                <a16:creationId xmlns:a16="http://schemas.microsoft.com/office/drawing/2014/main" id="{2799DBCF-DA3C-49AC-8140-401F6F29DBA7}"/>
              </a:ext>
            </a:extLst>
          </p:cNvPr>
          <p:cNvPicPr>
            <a:picLocks noChangeAspect="1"/>
          </p:cNvPicPr>
          <p:nvPr/>
        </p:nvPicPr>
        <p:blipFill>
          <a:blip r:embed="rId5"/>
          <a:stretch>
            <a:fillRect/>
          </a:stretch>
        </p:blipFill>
        <p:spPr>
          <a:xfrm>
            <a:off x="8161228" y="1275370"/>
            <a:ext cx="1712654" cy="1170533"/>
          </a:xfrm>
          <a:prstGeom prst="rect">
            <a:avLst/>
          </a:prstGeom>
        </p:spPr>
      </p:pic>
      <p:pic>
        <p:nvPicPr>
          <p:cNvPr id="13" name="Picture 12">
            <a:extLst>
              <a:ext uri="{FF2B5EF4-FFF2-40B4-BE49-F238E27FC236}">
                <a16:creationId xmlns:a16="http://schemas.microsoft.com/office/drawing/2014/main" id="{6139E456-7944-4385-8B7C-48BAFDF54A80}"/>
              </a:ext>
            </a:extLst>
          </p:cNvPr>
          <p:cNvPicPr>
            <a:picLocks noChangeAspect="1"/>
          </p:cNvPicPr>
          <p:nvPr/>
        </p:nvPicPr>
        <p:blipFill>
          <a:blip r:embed="rId6"/>
          <a:stretch>
            <a:fillRect/>
          </a:stretch>
        </p:blipFill>
        <p:spPr>
          <a:xfrm>
            <a:off x="10050157" y="1255173"/>
            <a:ext cx="1743607" cy="1170533"/>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idx="4294967295"/>
          </p:nvPr>
        </p:nvSpPr>
        <p:spPr>
          <a:xfrm>
            <a:off x="-1" y="804863"/>
            <a:ext cx="11442357" cy="831850"/>
          </a:xfrm>
        </p:spPr>
        <p:txBody>
          <a:bodyPr>
            <a:normAutofit fontScale="90000"/>
          </a:bodyPr>
          <a:lstStyle/>
          <a:p>
            <a:r>
              <a:rPr lang="en-GB" sz="2700" b="1" dirty="0">
                <a:solidFill>
                  <a:schemeClr val="accent2">
                    <a:lumMod val="75000"/>
                  </a:schemeClr>
                </a:solidFill>
              </a:rPr>
              <a:t>RESULTS </a:t>
            </a:r>
            <a:r>
              <a:rPr lang="en-IN" sz="2700" b="1" dirty="0">
                <a:solidFill>
                  <a:schemeClr val="accent2">
                    <a:lumMod val="75000"/>
                  </a:schemeClr>
                </a:solidFill>
                <a:latin typeface="Arial"/>
              </a:rPr>
              <a:t>– PROFITABILITY &amp; STATISTICAL SIGNIFICANCE</a:t>
            </a:r>
            <a:br>
              <a:rPr lang="en-IN" dirty="0">
                <a:solidFill>
                  <a:srgbClr val="1F3763"/>
                </a:solidFill>
                <a:latin typeface="Arial"/>
              </a:rPr>
            </a:br>
            <a:endParaRPr lang="en-IN" dirty="0"/>
          </a:p>
        </p:txBody>
      </p:sp>
      <p:sp>
        <p:nvSpPr>
          <p:cNvPr id="12" name="Text Placeholder 11">
            <a:extLst>
              <a:ext uri="{FF2B5EF4-FFF2-40B4-BE49-F238E27FC236}">
                <a16:creationId xmlns:a16="http://schemas.microsoft.com/office/drawing/2014/main" id="{32A7C639-6D47-4285-B5A1-A80EA4014F61}"/>
              </a:ext>
            </a:extLst>
          </p:cNvPr>
          <p:cNvSpPr>
            <a:spLocks noGrp="1"/>
          </p:cNvSpPr>
          <p:nvPr>
            <p:ph type="body" sz="quarter" idx="4294967295"/>
          </p:nvPr>
        </p:nvSpPr>
        <p:spPr>
          <a:xfrm>
            <a:off x="351290" y="3050777"/>
            <a:ext cx="5744709" cy="2192957"/>
          </a:xfrm>
        </p:spPr>
        <p:txBody>
          <a:bodyPr/>
          <a:lstStyle/>
          <a:p>
            <a:pPr>
              <a:spcAft>
                <a:spcPts val="600"/>
              </a:spcAft>
            </a:pPr>
            <a:r>
              <a:rPr lang="en-US" sz="1400" dirty="0">
                <a:solidFill>
                  <a:srgbClr val="282828"/>
                </a:solidFill>
                <a:latin typeface="Arial"/>
              </a:rPr>
              <a:t>Kharif showed the strongest average profitability.</a:t>
            </a:r>
          </a:p>
          <a:p>
            <a:pPr>
              <a:spcAft>
                <a:spcPts val="600"/>
              </a:spcAft>
            </a:pPr>
            <a:r>
              <a:rPr lang="en-US" sz="1400" dirty="0">
                <a:solidFill>
                  <a:srgbClr val="282828"/>
                </a:solidFill>
                <a:latin typeface="Arial"/>
              </a:rPr>
              <a:t>Zaid recorded an average loss.</a:t>
            </a:r>
          </a:p>
          <a:p>
            <a:pPr>
              <a:spcAft>
                <a:spcPts val="600"/>
              </a:spcAft>
            </a:pPr>
            <a:r>
              <a:rPr lang="en-US" sz="1400" dirty="0">
                <a:solidFill>
                  <a:srgbClr val="282828"/>
                </a:solidFill>
                <a:latin typeface="Arial"/>
              </a:rPr>
              <a:t>Profit ANOVA: F = 34.29, p &lt; 0.001.</a:t>
            </a:r>
          </a:p>
          <a:p>
            <a:pPr>
              <a:spcAft>
                <a:spcPts val="600"/>
              </a:spcAft>
            </a:pPr>
            <a:r>
              <a:rPr lang="en-US" sz="1400" dirty="0">
                <a:solidFill>
                  <a:srgbClr val="282828"/>
                </a:solidFill>
                <a:latin typeface="Arial"/>
              </a:rPr>
              <a:t>Seasonal differences in average profit were statistically significant</a:t>
            </a:r>
            <a:endParaRPr lang="hi-IN"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2" name="Picture 1">
            <a:extLst>
              <a:ext uri="{FF2B5EF4-FFF2-40B4-BE49-F238E27FC236}">
                <a16:creationId xmlns:a16="http://schemas.microsoft.com/office/drawing/2014/main" id="{D4C6BDA6-1CAC-4F40-82C9-4F7DCC13DB35}"/>
              </a:ext>
            </a:extLst>
          </p:cNvPr>
          <p:cNvPicPr>
            <a:picLocks noChangeAspect="1"/>
          </p:cNvPicPr>
          <p:nvPr/>
        </p:nvPicPr>
        <p:blipFill>
          <a:blip r:embed="rId3"/>
          <a:stretch>
            <a:fillRect/>
          </a:stretch>
        </p:blipFill>
        <p:spPr>
          <a:xfrm>
            <a:off x="6298694" y="1602231"/>
            <a:ext cx="5486876" cy="3980397"/>
          </a:xfrm>
          <a:prstGeom prst="rect">
            <a:avLst/>
          </a:prstGeom>
        </p:spPr>
      </p:pic>
      <p:pic>
        <p:nvPicPr>
          <p:cNvPr id="3" name="Picture 2">
            <a:extLst>
              <a:ext uri="{FF2B5EF4-FFF2-40B4-BE49-F238E27FC236}">
                <a16:creationId xmlns:a16="http://schemas.microsoft.com/office/drawing/2014/main" id="{44D90085-2768-4E76-8BDF-452F106651E4}"/>
              </a:ext>
            </a:extLst>
          </p:cNvPr>
          <p:cNvPicPr>
            <a:picLocks noChangeAspect="1"/>
          </p:cNvPicPr>
          <p:nvPr/>
        </p:nvPicPr>
        <p:blipFill>
          <a:blip r:embed="rId4"/>
          <a:stretch>
            <a:fillRect/>
          </a:stretch>
        </p:blipFill>
        <p:spPr>
          <a:xfrm>
            <a:off x="402207" y="1696420"/>
            <a:ext cx="1822862" cy="1097375"/>
          </a:xfrm>
          <a:prstGeom prst="rect">
            <a:avLst/>
          </a:prstGeom>
        </p:spPr>
      </p:pic>
      <p:pic>
        <p:nvPicPr>
          <p:cNvPr id="6" name="Picture 5">
            <a:extLst>
              <a:ext uri="{FF2B5EF4-FFF2-40B4-BE49-F238E27FC236}">
                <a16:creationId xmlns:a16="http://schemas.microsoft.com/office/drawing/2014/main" id="{0E9F3EDA-1C8F-48F9-B658-6BDC9D9CB746}"/>
              </a:ext>
            </a:extLst>
          </p:cNvPr>
          <p:cNvPicPr>
            <a:picLocks noChangeAspect="1"/>
          </p:cNvPicPr>
          <p:nvPr/>
        </p:nvPicPr>
        <p:blipFill>
          <a:blip r:embed="rId5"/>
          <a:stretch>
            <a:fillRect/>
          </a:stretch>
        </p:blipFill>
        <p:spPr>
          <a:xfrm>
            <a:off x="2282714" y="1614266"/>
            <a:ext cx="1835055" cy="1103472"/>
          </a:xfrm>
          <a:prstGeom prst="rect">
            <a:avLst/>
          </a:prstGeom>
        </p:spPr>
      </p:pic>
      <p:pic>
        <p:nvPicPr>
          <p:cNvPr id="9" name="Picture 8">
            <a:extLst>
              <a:ext uri="{FF2B5EF4-FFF2-40B4-BE49-F238E27FC236}">
                <a16:creationId xmlns:a16="http://schemas.microsoft.com/office/drawing/2014/main" id="{283AE3DB-51BE-440F-8393-7DB84FBE562F}"/>
              </a:ext>
            </a:extLst>
          </p:cNvPr>
          <p:cNvPicPr>
            <a:picLocks noChangeAspect="1"/>
          </p:cNvPicPr>
          <p:nvPr/>
        </p:nvPicPr>
        <p:blipFill>
          <a:blip r:embed="rId6"/>
          <a:stretch>
            <a:fillRect/>
          </a:stretch>
        </p:blipFill>
        <p:spPr>
          <a:xfrm>
            <a:off x="4233059" y="1642569"/>
            <a:ext cx="1835055" cy="1103472"/>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8"/>
                                        </p:tgtEl>
                                        <p:attrNameLst>
                                          <p:attrName>style.visibility</p:attrName>
                                        </p:attrNameLst>
                                      </p:cBhvr>
                                      <p:to>
                                        <p:strVal val="visible"/>
                                      </p:to>
                                    </p:set>
                                    <p:animEffect transition="in" filter="fade">
                                      <p:cBhvr>
                                        <p:cTn id="14" dur="1000"/>
                                        <p:tgtEl>
                                          <p:spTgt spid="8"/>
                                        </p:tgtEl>
                                      </p:cBhvr>
                                    </p:animEffect>
                                    <p:anim calcmode="lin" valueType="num">
                                      <p:cBhvr>
                                        <p:cTn id="15" dur="1000" fill="hold"/>
                                        <p:tgtEl>
                                          <p:spTgt spid="8"/>
                                        </p:tgtEl>
                                        <p:attrNameLst>
                                          <p:attrName>ppt_x</p:attrName>
                                        </p:attrNameLst>
                                      </p:cBhvr>
                                      <p:tavLst>
                                        <p:tav tm="0">
                                          <p:val>
                                            <p:strVal val="#ppt_x"/>
                                          </p:val>
                                        </p:tav>
                                        <p:tav tm="100000">
                                          <p:val>
                                            <p:strVal val="#ppt_x"/>
                                          </p:val>
                                        </p:tav>
                                      </p:tavLst>
                                    </p:anim>
                                    <p:anim calcmode="lin" valueType="num">
                                      <p:cBhvr>
                                        <p:cTn id="16"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6" y="370589"/>
            <a:ext cx="5394959" cy="904782"/>
          </a:xfrm>
        </p:spPr>
        <p:txBody>
          <a:bodyPr>
            <a:normAutofit/>
          </a:bodyPr>
          <a:lstStyle/>
          <a:p>
            <a:r>
              <a:rPr lang="en-GB" sz="2000" dirty="0">
                <a:solidFill>
                  <a:schemeClr val="accent2">
                    <a:lumMod val="75000"/>
                  </a:schemeClr>
                </a:solidFill>
                <a:latin typeface="Arial" panose="020B0604020202020204" pitchFamily="34" charset="0"/>
                <a:cs typeface="Arial" panose="020B0604020202020204" pitchFamily="34" charset="0"/>
              </a:rPr>
              <a:t>RESULTS </a:t>
            </a:r>
            <a:r>
              <a:rPr lang="en-IN" sz="2000" dirty="0">
                <a:solidFill>
                  <a:schemeClr val="accent2">
                    <a:lumMod val="75000"/>
                  </a:schemeClr>
                </a:solidFill>
                <a:latin typeface="Arial"/>
              </a:rPr>
              <a:t>– WATER &amp; ENVIRONMENTAL ANALYSIS</a:t>
            </a:r>
            <a:endParaRPr lang="en-IN" sz="2000" dirty="0">
              <a:solidFill>
                <a:schemeClr val="accent2">
                  <a:lumMod val="75000"/>
                </a:schemeClr>
              </a:solidFill>
              <a:latin typeface="Arial" panose="020B0604020202020204" pitchFamily="34" charset="0"/>
              <a:cs typeface="Arial" panose="020B0604020202020204" pitchFamily="34" charset="0"/>
            </a:endParaRPr>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 Placeholder 2">
            <a:extLst>
              <a:ext uri="{FF2B5EF4-FFF2-40B4-BE49-F238E27FC236}">
                <a16:creationId xmlns:a16="http://schemas.microsoft.com/office/drawing/2014/main" id="{A74073A8-91B9-4532-BF5E-66558D7D779A}"/>
              </a:ext>
            </a:extLst>
          </p:cNvPr>
          <p:cNvSpPr>
            <a:spLocks noGrp="1"/>
          </p:cNvSpPr>
          <p:nvPr>
            <p:ph type="body" sz="quarter" idx="12"/>
          </p:nvPr>
        </p:nvSpPr>
        <p:spPr>
          <a:xfrm>
            <a:off x="668131" y="1648618"/>
            <a:ext cx="5144075" cy="3560763"/>
          </a:xfrm>
        </p:spPr>
        <p:txBody>
          <a:bodyPr>
            <a:normAutofit/>
          </a:bodyPr>
          <a:lstStyle/>
          <a:p>
            <a:pPr>
              <a:lnSpc>
                <a:spcPct val="150000"/>
              </a:lnSpc>
              <a:spcAft>
                <a:spcPts val="600"/>
              </a:spcAft>
            </a:pPr>
            <a:r>
              <a:rPr lang="en-US" sz="1800" dirty="0">
                <a:solidFill>
                  <a:srgbClr val="282828"/>
                </a:solidFill>
                <a:latin typeface="Arial"/>
              </a:rPr>
              <a:t>Zaid had the highest average water use (6,419.89 m³) and lowest water efficiency (4.41 t/1,000 m³).</a:t>
            </a:r>
          </a:p>
          <a:p>
            <a:pPr>
              <a:lnSpc>
                <a:spcPct val="150000"/>
              </a:lnSpc>
              <a:spcAft>
                <a:spcPts val="600"/>
              </a:spcAft>
            </a:pPr>
            <a:r>
              <a:rPr lang="en-US" sz="1800" dirty="0">
                <a:solidFill>
                  <a:srgbClr val="282828"/>
                </a:solidFill>
                <a:latin typeface="Arial"/>
              </a:rPr>
              <a:t>Rainfall–yield correlation was close to zero overall; rainfall alone did not strongly explain yield variation</a:t>
            </a:r>
            <a:endParaRPr lang="hi-IN" sz="1800" dirty="0"/>
          </a:p>
        </p:txBody>
      </p:sp>
      <p:pic>
        <p:nvPicPr>
          <p:cNvPr id="9" name="Picture 8" descr="water.png">
            <a:extLst>
              <a:ext uri="{FF2B5EF4-FFF2-40B4-BE49-F238E27FC236}">
                <a16:creationId xmlns:a16="http://schemas.microsoft.com/office/drawing/2014/main" id="{A66DDD43-259C-4128-B39A-37F9B0E38BBA}"/>
              </a:ext>
            </a:extLst>
          </p:cNvPr>
          <p:cNvPicPr>
            <a:picLocks noChangeAspect="1"/>
          </p:cNvPicPr>
          <p:nvPr/>
        </p:nvPicPr>
        <p:blipFill>
          <a:blip r:embed="rId3"/>
          <a:stretch>
            <a:fillRect/>
          </a:stretch>
        </p:blipFill>
        <p:spPr>
          <a:xfrm>
            <a:off x="6096000" y="483184"/>
            <a:ext cx="5394960" cy="3043088"/>
          </a:xfrm>
          <a:prstGeom prst="rect">
            <a:avLst/>
          </a:prstGeom>
        </p:spPr>
      </p:pic>
      <p:pic>
        <p:nvPicPr>
          <p:cNvPr id="6" name="Picture 5">
            <a:extLst>
              <a:ext uri="{FF2B5EF4-FFF2-40B4-BE49-F238E27FC236}">
                <a16:creationId xmlns:a16="http://schemas.microsoft.com/office/drawing/2014/main" id="{E8C30997-271C-44F1-8032-D852B06C9DD5}"/>
              </a:ext>
            </a:extLst>
          </p:cNvPr>
          <p:cNvPicPr>
            <a:picLocks noChangeAspect="1"/>
          </p:cNvPicPr>
          <p:nvPr/>
        </p:nvPicPr>
        <p:blipFill>
          <a:blip r:embed="rId4"/>
          <a:stretch>
            <a:fillRect/>
          </a:stretch>
        </p:blipFill>
        <p:spPr>
          <a:xfrm>
            <a:off x="6096000" y="3694670"/>
            <a:ext cx="5427869" cy="3095140"/>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8"/>
                                        </p:tgtEl>
                                        <p:attrNameLst>
                                          <p:attrName>style.visibility</p:attrName>
                                        </p:attrNameLst>
                                      </p:cBhvr>
                                      <p:to>
                                        <p:strVal val="visible"/>
                                      </p:to>
                                    </p:set>
                                    <p:animEffect transition="in" filter="fade">
                                      <p:cBhvr>
                                        <p:cTn id="14" dur="1000"/>
                                        <p:tgtEl>
                                          <p:spTgt spid="8"/>
                                        </p:tgtEl>
                                      </p:cBhvr>
                                    </p:animEffect>
                                    <p:anim calcmode="lin" valueType="num">
                                      <p:cBhvr>
                                        <p:cTn id="15" dur="1000" fill="hold"/>
                                        <p:tgtEl>
                                          <p:spTgt spid="8"/>
                                        </p:tgtEl>
                                        <p:attrNameLst>
                                          <p:attrName>ppt_x</p:attrName>
                                        </p:attrNameLst>
                                      </p:cBhvr>
                                      <p:tavLst>
                                        <p:tav tm="0">
                                          <p:val>
                                            <p:strVal val="#ppt_x"/>
                                          </p:val>
                                        </p:tav>
                                        <p:tav tm="100000">
                                          <p:val>
                                            <p:strVal val="#ppt_x"/>
                                          </p:val>
                                        </p:tav>
                                      </p:tavLst>
                                    </p:anim>
                                    <p:anim calcmode="lin" valueType="num">
                                      <p:cBhvr>
                                        <p:cTn id="16"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11143510" cy="830997"/>
          </a:xfrm>
        </p:spPr>
        <p:txBody>
          <a:bodyPr>
            <a:normAutofit/>
          </a:bodyPr>
          <a:lstStyle/>
          <a:p>
            <a:r>
              <a:rPr lang="en-GB" sz="2800" dirty="0">
                <a:solidFill>
                  <a:schemeClr val="accent2">
                    <a:lumMod val="75000"/>
                  </a:schemeClr>
                </a:solidFill>
                <a:latin typeface="Arial" panose="020B0604020202020204" pitchFamily="34" charset="0"/>
                <a:cs typeface="Arial" panose="020B0604020202020204" pitchFamily="34" charset="0"/>
              </a:rPr>
              <a:t>RESULTS - </a:t>
            </a:r>
            <a:r>
              <a:rPr lang="en-IN" sz="2800" dirty="0">
                <a:solidFill>
                  <a:schemeClr val="accent2">
                    <a:lumMod val="75000"/>
                  </a:schemeClr>
                </a:solidFill>
                <a:latin typeface="Arial" panose="020B0604020202020204" pitchFamily="34" charset="0"/>
                <a:cs typeface="Arial" panose="020B0604020202020204" pitchFamily="34" charset="0"/>
              </a:rPr>
              <a:t>CROP-WISE SEASONAL PERFORMANCE</a:t>
            </a:r>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 Placeholder 2">
            <a:extLst>
              <a:ext uri="{FF2B5EF4-FFF2-40B4-BE49-F238E27FC236}">
                <a16:creationId xmlns:a16="http://schemas.microsoft.com/office/drawing/2014/main" id="{262D99C8-2292-4732-A02B-041070B18586}"/>
              </a:ext>
            </a:extLst>
          </p:cNvPr>
          <p:cNvSpPr>
            <a:spLocks noGrp="1"/>
          </p:cNvSpPr>
          <p:nvPr>
            <p:ph type="body" sz="quarter" idx="12"/>
          </p:nvPr>
        </p:nvSpPr>
        <p:spPr>
          <a:xfrm>
            <a:off x="675957" y="1355789"/>
            <a:ext cx="5201429" cy="3560763"/>
          </a:xfrm>
        </p:spPr>
        <p:txBody>
          <a:bodyPr>
            <a:normAutofit fontScale="70000" lnSpcReduction="20000"/>
          </a:bodyPr>
          <a:lstStyle/>
          <a:p>
            <a:pPr>
              <a:lnSpc>
                <a:spcPct val="160000"/>
              </a:lnSpc>
              <a:spcAft>
                <a:spcPts val="600"/>
              </a:spcAft>
            </a:pPr>
            <a:r>
              <a:rPr lang="en-US" sz="2000" dirty="0">
                <a:solidFill>
                  <a:srgbClr val="282828"/>
                </a:solidFill>
                <a:latin typeface="Arial"/>
              </a:rPr>
              <a:t>All eight crops recorded their highest average yield in Kharif, followed by Rabi and Zaid.</a:t>
            </a:r>
          </a:p>
          <a:p>
            <a:pPr>
              <a:lnSpc>
                <a:spcPct val="160000"/>
              </a:lnSpc>
              <a:spcAft>
                <a:spcPts val="600"/>
              </a:spcAft>
            </a:pPr>
            <a:r>
              <a:rPr lang="en-US" sz="2000" dirty="0">
                <a:solidFill>
                  <a:srgbClr val="282828"/>
                </a:solidFill>
                <a:latin typeface="Arial"/>
              </a:rPr>
              <a:t>Sugarcane had a much higher yield level than the other crops.</a:t>
            </a:r>
          </a:p>
          <a:p>
            <a:pPr>
              <a:lnSpc>
                <a:spcPct val="160000"/>
              </a:lnSpc>
              <a:spcAft>
                <a:spcPts val="600"/>
              </a:spcAft>
            </a:pPr>
            <a:r>
              <a:rPr lang="en-US" sz="2000" dirty="0">
                <a:solidFill>
                  <a:srgbClr val="282828"/>
                </a:solidFill>
                <a:latin typeface="Arial"/>
              </a:rPr>
              <a:t>Crop-wise production followed the same broad seasonal pattern.</a:t>
            </a:r>
          </a:p>
          <a:p>
            <a:pPr>
              <a:lnSpc>
                <a:spcPct val="160000"/>
              </a:lnSpc>
              <a:spcAft>
                <a:spcPts val="600"/>
              </a:spcAft>
            </a:pPr>
            <a:r>
              <a:rPr lang="en-US" sz="2000" dirty="0">
                <a:solidFill>
                  <a:srgbClr val="282828"/>
                </a:solidFill>
                <a:latin typeface="Arial"/>
              </a:rPr>
              <a:t>Profitability did not always follow yield or production; several crops showed negative average profit, especially in Zaid.</a:t>
            </a:r>
          </a:p>
          <a:p>
            <a:endParaRPr lang="hi-IN" dirty="0"/>
          </a:p>
        </p:txBody>
      </p:sp>
      <p:pic>
        <p:nvPicPr>
          <p:cNvPr id="6" name="Picture 5">
            <a:extLst>
              <a:ext uri="{FF2B5EF4-FFF2-40B4-BE49-F238E27FC236}">
                <a16:creationId xmlns:a16="http://schemas.microsoft.com/office/drawing/2014/main" id="{1BCDD101-3599-42B1-BB74-44338B5FC4FF}"/>
              </a:ext>
            </a:extLst>
          </p:cNvPr>
          <p:cNvPicPr>
            <a:picLocks noChangeAspect="1"/>
          </p:cNvPicPr>
          <p:nvPr/>
        </p:nvPicPr>
        <p:blipFill>
          <a:blip r:embed="rId3"/>
          <a:stretch>
            <a:fillRect/>
          </a:stretch>
        </p:blipFill>
        <p:spPr>
          <a:xfrm>
            <a:off x="5877386" y="1275371"/>
            <a:ext cx="5669771" cy="3609145"/>
          </a:xfrm>
          <a:prstGeom prst="rect">
            <a:avLst/>
          </a:prstGeom>
        </p:spPr>
      </p:pic>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10652443" cy="760408"/>
          </a:xfrm>
        </p:spPr>
        <p:txBody>
          <a:bodyPr>
            <a:normAutofit fontScale="90000"/>
          </a:bodyPr>
          <a:lstStyle/>
          <a:p>
            <a:r>
              <a:rPr lang="en-GB" sz="3100" dirty="0">
                <a:solidFill>
                  <a:schemeClr val="accent2">
                    <a:lumMod val="75000"/>
                  </a:schemeClr>
                </a:solidFill>
                <a:latin typeface="Arial" panose="020B0604020202020204" pitchFamily="34" charset="0"/>
                <a:cs typeface="Arial" panose="020B0604020202020204" pitchFamily="34" charset="0"/>
              </a:rPr>
              <a:t>RESULTS </a:t>
            </a:r>
            <a:r>
              <a:rPr lang="en-IN" sz="3100" dirty="0">
                <a:solidFill>
                  <a:schemeClr val="accent2">
                    <a:lumMod val="75000"/>
                  </a:schemeClr>
                </a:solidFill>
                <a:latin typeface="Arial" panose="020B0604020202020204" pitchFamily="34" charset="0"/>
                <a:cs typeface="Arial" panose="020B0604020202020204" pitchFamily="34" charset="0"/>
              </a:rPr>
              <a:t>– REGIONAL VARIATION &amp; KEY EXCEPTIONS</a:t>
            </a:r>
            <a:br>
              <a:rPr lang="en-IN" dirty="0">
                <a:solidFill>
                  <a:srgbClr val="1F3763"/>
                </a:solidFill>
                <a:latin typeface="Arial"/>
              </a:rPr>
            </a:br>
            <a:endParaRPr lang="en-IN"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 Placeholder 2">
            <a:extLst>
              <a:ext uri="{FF2B5EF4-FFF2-40B4-BE49-F238E27FC236}">
                <a16:creationId xmlns:a16="http://schemas.microsoft.com/office/drawing/2014/main" id="{7C435E8A-0BDE-4CDD-BF09-D2CA12C302A8}"/>
              </a:ext>
            </a:extLst>
          </p:cNvPr>
          <p:cNvSpPr>
            <a:spLocks noGrp="1"/>
          </p:cNvSpPr>
          <p:nvPr>
            <p:ph type="body" sz="quarter" idx="12"/>
          </p:nvPr>
        </p:nvSpPr>
        <p:spPr>
          <a:xfrm>
            <a:off x="681512" y="1252096"/>
            <a:ext cx="5409513" cy="4330533"/>
          </a:xfrm>
        </p:spPr>
        <p:txBody>
          <a:bodyPr>
            <a:noAutofit/>
          </a:bodyPr>
          <a:lstStyle/>
          <a:p>
            <a:pPr>
              <a:lnSpc>
                <a:spcPct val="170000"/>
              </a:lnSpc>
              <a:spcAft>
                <a:spcPts val="600"/>
              </a:spcAft>
            </a:pPr>
            <a:r>
              <a:rPr lang="en-US" sz="1400" dirty="0">
                <a:solidFill>
                  <a:srgbClr val="282828"/>
                </a:solidFill>
                <a:latin typeface="Arial"/>
              </a:rPr>
              <a:t>Seasonal performance was not uniform across states.</a:t>
            </a:r>
          </a:p>
          <a:p>
            <a:pPr>
              <a:lnSpc>
                <a:spcPct val="170000"/>
              </a:lnSpc>
              <a:spcAft>
                <a:spcPts val="600"/>
              </a:spcAft>
            </a:pPr>
            <a:r>
              <a:rPr lang="en-US" sz="1400" dirty="0">
                <a:solidFill>
                  <a:srgbClr val="282828"/>
                </a:solidFill>
                <a:latin typeface="Arial"/>
              </a:rPr>
              <a:t>Punjab recorded its highest average yield in Rabi (8.61 t/ha).</a:t>
            </a:r>
          </a:p>
          <a:p>
            <a:pPr>
              <a:lnSpc>
                <a:spcPct val="170000"/>
              </a:lnSpc>
              <a:spcAft>
                <a:spcPts val="600"/>
              </a:spcAft>
            </a:pPr>
            <a:r>
              <a:rPr lang="en-US" sz="1400" dirty="0">
                <a:solidFill>
                  <a:srgbClr val="282828"/>
                </a:solidFill>
                <a:latin typeface="Arial"/>
              </a:rPr>
              <a:t>Karnataka recorded its highest average yield in Zaid (6.62 t/ha).</a:t>
            </a:r>
          </a:p>
          <a:p>
            <a:pPr>
              <a:lnSpc>
                <a:spcPct val="170000"/>
              </a:lnSpc>
              <a:spcAft>
                <a:spcPts val="600"/>
              </a:spcAft>
            </a:pPr>
            <a:r>
              <a:rPr lang="en-US" sz="1400" dirty="0">
                <a:solidFill>
                  <a:srgbClr val="282828"/>
                </a:solidFill>
                <a:latin typeface="Arial"/>
              </a:rPr>
              <a:t>Regional conditions can change the strongest-performing season.</a:t>
            </a:r>
          </a:p>
          <a:p>
            <a:pPr>
              <a:lnSpc>
                <a:spcPct val="170000"/>
              </a:lnSpc>
              <a:spcAft>
                <a:spcPts val="600"/>
              </a:spcAft>
            </a:pPr>
            <a:r>
              <a:rPr lang="en-US" sz="1400" dirty="0">
                <a:solidFill>
                  <a:srgbClr val="282828"/>
                </a:solidFill>
                <a:latin typeface="Arial"/>
              </a:rPr>
              <a:t>Overall, Kharif was strong, but regional exceptions are important for planning.</a:t>
            </a:r>
          </a:p>
          <a:p>
            <a:endParaRPr lang="hi-IN" sz="1400" dirty="0"/>
          </a:p>
        </p:txBody>
      </p:sp>
      <p:pic>
        <p:nvPicPr>
          <p:cNvPr id="6" name="Picture 5">
            <a:extLst>
              <a:ext uri="{FF2B5EF4-FFF2-40B4-BE49-F238E27FC236}">
                <a16:creationId xmlns:a16="http://schemas.microsoft.com/office/drawing/2014/main" id="{85A1817C-82D4-4CC7-817C-1340EEA1E457}"/>
              </a:ext>
            </a:extLst>
          </p:cNvPr>
          <p:cNvPicPr>
            <a:picLocks noChangeAspect="1"/>
          </p:cNvPicPr>
          <p:nvPr/>
        </p:nvPicPr>
        <p:blipFill>
          <a:blip r:embed="rId3"/>
          <a:stretch>
            <a:fillRect/>
          </a:stretch>
        </p:blipFill>
        <p:spPr>
          <a:xfrm>
            <a:off x="6017474" y="1130997"/>
            <a:ext cx="5409514" cy="4330533"/>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8"/>
                                        </p:tgtEl>
                                        <p:attrNameLst>
                                          <p:attrName>style.visibility</p:attrName>
                                        </p:attrNameLst>
                                      </p:cBhvr>
                                      <p:to>
                                        <p:strVal val="visible"/>
                                      </p:to>
                                    </p:set>
                                    <p:animEffect transition="in" filter="fade">
                                      <p:cBhvr>
                                        <p:cTn id="14" dur="1000"/>
                                        <p:tgtEl>
                                          <p:spTgt spid="8"/>
                                        </p:tgtEl>
                                      </p:cBhvr>
                                    </p:animEffect>
                                    <p:anim calcmode="lin" valueType="num">
                                      <p:cBhvr>
                                        <p:cTn id="15" dur="1000" fill="hold"/>
                                        <p:tgtEl>
                                          <p:spTgt spid="8"/>
                                        </p:tgtEl>
                                        <p:attrNameLst>
                                          <p:attrName>ppt_x</p:attrName>
                                        </p:attrNameLst>
                                      </p:cBhvr>
                                      <p:tavLst>
                                        <p:tav tm="0">
                                          <p:val>
                                            <p:strVal val="#ppt_x"/>
                                          </p:val>
                                        </p:tav>
                                        <p:tav tm="100000">
                                          <p:val>
                                            <p:strVal val="#ppt_x"/>
                                          </p:val>
                                        </p:tav>
                                      </p:tavLst>
                                    </p:anim>
                                    <p:anim calcmode="lin" valueType="num">
                                      <p:cBhvr>
                                        <p:cTn id="16"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7335" y="609600"/>
            <a:ext cx="8596668" cy="1151467"/>
          </a:xfrm>
        </p:spPr>
        <p:txBody>
          <a:bodyPr>
            <a:normAutofit/>
          </a:bodyPr>
          <a:lstStyle/>
          <a:p>
            <a:r>
              <a:rPr lang="en-IN" sz="4000" dirty="0">
                <a:solidFill>
                  <a:schemeClr val="accent2">
                    <a:lumMod val="75000"/>
                  </a:schemeClr>
                </a:solidFill>
                <a:latin typeface="Arial" panose="020B0604020202020204" pitchFamily="34" charset="0"/>
                <a:cs typeface="Arial" panose="020B0604020202020204" pitchFamily="34" charset="0"/>
              </a:rPr>
              <a:t>Future scope</a:t>
            </a:r>
          </a:p>
        </p:txBody>
      </p:sp>
      <p:sp>
        <p:nvSpPr>
          <p:cNvPr id="2" name="Text Placeholder 1">
            <a:extLst>
              <a:ext uri="{FF2B5EF4-FFF2-40B4-BE49-F238E27FC236}">
                <a16:creationId xmlns:a16="http://schemas.microsoft.com/office/drawing/2014/main" id="{4D7A7769-3C0F-4041-B14D-390102BCA924}"/>
              </a:ext>
            </a:extLst>
          </p:cNvPr>
          <p:cNvSpPr>
            <a:spLocks noGrp="1"/>
          </p:cNvSpPr>
          <p:nvPr>
            <p:ph type="body" idx="1"/>
          </p:nvPr>
        </p:nvSpPr>
        <p:spPr>
          <a:xfrm>
            <a:off x="677334" y="1734104"/>
            <a:ext cx="10431389" cy="4307258"/>
          </a:xfrm>
        </p:spPr>
        <p:txBody>
          <a:bodyPr>
            <a:normAutofit/>
          </a:bodyPr>
          <a:lstStyle/>
          <a:p>
            <a:pPr>
              <a:lnSpc>
                <a:spcPct val="150000"/>
              </a:lnSpc>
              <a:spcAft>
                <a:spcPts val="600"/>
              </a:spcAft>
            </a:pPr>
            <a:r>
              <a:rPr lang="en-US" sz="1800" dirty="0">
                <a:solidFill>
                  <a:srgbClr val="282828"/>
                </a:solidFill>
                <a:latin typeface="Arial"/>
              </a:rPr>
              <a:t>Extend the analysis with multi-year agricultural data to study long-term seasonal trends.</a:t>
            </a:r>
          </a:p>
          <a:p>
            <a:pPr>
              <a:lnSpc>
                <a:spcPct val="150000"/>
              </a:lnSpc>
              <a:spcAft>
                <a:spcPts val="600"/>
              </a:spcAft>
            </a:pPr>
            <a:r>
              <a:rPr lang="en-US" sz="1800" dirty="0">
                <a:solidFill>
                  <a:srgbClr val="282828"/>
                </a:solidFill>
                <a:latin typeface="Arial"/>
              </a:rPr>
              <a:t>Apply machine learning models to predict yield and profitability using multiple factors.</a:t>
            </a:r>
          </a:p>
          <a:p>
            <a:pPr>
              <a:lnSpc>
                <a:spcPct val="150000"/>
              </a:lnSpc>
              <a:spcAft>
                <a:spcPts val="600"/>
              </a:spcAft>
            </a:pPr>
            <a:r>
              <a:rPr lang="en-US" sz="1800" dirty="0">
                <a:solidFill>
                  <a:srgbClr val="282828"/>
                </a:solidFill>
                <a:latin typeface="Arial"/>
              </a:rPr>
              <a:t>Develop an interactive Power BI/Tableau dashboard for monitoring.</a:t>
            </a:r>
          </a:p>
          <a:p>
            <a:pPr>
              <a:lnSpc>
                <a:spcPct val="150000"/>
              </a:lnSpc>
              <a:spcAft>
                <a:spcPts val="600"/>
              </a:spcAft>
            </a:pPr>
            <a:r>
              <a:rPr lang="en-US" sz="1800" dirty="0">
                <a:solidFill>
                  <a:srgbClr val="282828"/>
                </a:solidFill>
                <a:latin typeface="Arial"/>
              </a:rPr>
              <a:t>Include market prices, input costs and weather forecasts for stronger economic analysis.</a:t>
            </a:r>
          </a:p>
          <a:p>
            <a:pPr>
              <a:lnSpc>
                <a:spcPct val="150000"/>
              </a:lnSpc>
              <a:spcAft>
                <a:spcPts val="600"/>
              </a:spcAft>
            </a:pPr>
            <a:r>
              <a:rPr lang="en-US" sz="1800" dirty="0">
                <a:solidFill>
                  <a:srgbClr val="282828"/>
                </a:solidFill>
                <a:latin typeface="Arial"/>
              </a:rPr>
              <a:t>Build region-specific models for localized crop and resource planning.</a:t>
            </a:r>
          </a:p>
          <a:p>
            <a:endParaRPr lang="hi-IN" dirty="0"/>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11007418" cy="430725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7335" y="609600"/>
            <a:ext cx="8596668" cy="1427018"/>
          </a:xfrm>
        </p:spPr>
        <p:txBody>
          <a:bodyPr>
            <a:normAutofit/>
          </a:bodyPr>
          <a:lstStyle/>
          <a:p>
            <a:r>
              <a:rPr lang="en-IN" sz="4000" dirty="0">
                <a:solidFill>
                  <a:schemeClr val="accent2">
                    <a:lumMod val="75000"/>
                  </a:schemeClr>
                </a:solidFill>
                <a:latin typeface="Arial" panose="020B0604020202020204" pitchFamily="34" charset="0"/>
                <a:cs typeface="Arial" panose="020B0604020202020204" pitchFamily="34" charset="0"/>
              </a:rPr>
              <a:t>GitHub Link</a:t>
            </a:r>
          </a:p>
        </p:txBody>
      </p:sp>
      <p:sp>
        <p:nvSpPr>
          <p:cNvPr id="2" name="Text Placeholder 1">
            <a:extLst>
              <a:ext uri="{FF2B5EF4-FFF2-40B4-BE49-F238E27FC236}">
                <a16:creationId xmlns:a16="http://schemas.microsoft.com/office/drawing/2014/main" id="{4E1617D3-7986-43A2-A482-E108019B278E}"/>
              </a:ext>
            </a:extLst>
          </p:cNvPr>
          <p:cNvSpPr>
            <a:spLocks noGrp="1"/>
          </p:cNvSpPr>
          <p:nvPr>
            <p:ph type="body" idx="1"/>
          </p:nvPr>
        </p:nvSpPr>
        <p:spPr>
          <a:xfrm>
            <a:off x="677335" y="2475345"/>
            <a:ext cx="8596668" cy="1570962"/>
          </a:xfrm>
        </p:spPr>
        <p:txBody>
          <a:bodyPr>
            <a:normAutofit/>
          </a:bodyPr>
          <a:lstStyle/>
          <a:p>
            <a:r>
              <a:rPr lang="en-IN" sz="2400" dirty="0">
                <a:solidFill>
                  <a:schemeClr val="tx1"/>
                </a:solidFill>
                <a:latin typeface="Arial" panose="020B0604020202020204" pitchFamily="34" charset="0"/>
                <a:cs typeface="Arial" panose="020B0604020202020204" pitchFamily="34" charset="0"/>
                <a:hlinkClick r:id="rId3">
                  <a:extLst>
                    <a:ext uri="{A12FA001-AC4F-418D-AE19-62706E023703}">
                      <ahyp:hlinkClr xmlns:ahyp="http://schemas.microsoft.com/office/drawing/2018/hyperlinkcolor" val="tx"/>
                    </a:ext>
                  </a:extLst>
                </a:hlinkClick>
              </a:rPr>
              <a:t>https://github.com/adishukla10/Seasonal-Agriculture-Performance-Analysis.git</a:t>
            </a:r>
            <a:endParaRPr lang="hi-IN" sz="2400" dirty="0">
              <a:solidFill>
                <a:schemeClr val="tx1"/>
              </a:solidFill>
              <a:latin typeface="Arial" panose="020B0604020202020204" pitchFamily="34" charset="0"/>
            </a:endParaRP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6" y="370589"/>
            <a:ext cx="10754043" cy="884658"/>
          </a:xfrm>
        </p:spPr>
        <p:txBody>
          <a:bodyPr>
            <a:normAutofit fontScale="90000"/>
          </a:bodyPr>
          <a:lstStyle/>
          <a:p>
            <a:r>
              <a:rPr lang="en-IN" sz="3200" dirty="0">
                <a:solidFill>
                  <a:schemeClr val="accent2">
                    <a:lumMod val="75000"/>
                  </a:schemeClr>
                </a:solidFill>
                <a:latin typeface="Arial" panose="020B0604020202020204" pitchFamily="34" charset="0"/>
                <a:cs typeface="Arial" panose="020B0604020202020204" pitchFamily="34" charset="0"/>
              </a:rPr>
              <a:t>VOIS Course completion certificate - 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F07BB46E-498F-4B28-AAB5-88E133C6D09E}"/>
              </a:ext>
            </a:extLst>
          </p:cNvPr>
          <p:cNvPicPr>
            <a:picLocks noChangeAspect="1"/>
          </p:cNvPicPr>
          <p:nvPr/>
        </p:nvPicPr>
        <p:blipFill>
          <a:blip r:embed="rId3"/>
          <a:stretch>
            <a:fillRect/>
          </a:stretch>
        </p:blipFill>
        <p:spPr>
          <a:xfrm>
            <a:off x="1025610" y="1754659"/>
            <a:ext cx="9798908" cy="4732752"/>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878337" y="2744881"/>
            <a:ext cx="10391025" cy="700114"/>
          </a:xfrm>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2.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05D99ABA-76CE-4A8E-B5F0-C051B96628D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Facet</Template>
  <TotalTime>1293</TotalTime>
  <Words>653</Words>
  <Application>Microsoft Office PowerPoint</Application>
  <PresentationFormat>Widescreen</PresentationFormat>
  <Paragraphs>60</Paragraphs>
  <Slides>14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Trebuchet MS</vt:lpstr>
      <vt:lpstr>Wingdings</vt:lpstr>
      <vt:lpstr>Wingdings 3</vt:lpstr>
      <vt:lpstr>Facet</vt:lpstr>
      <vt:lpstr>Seasonal Agriculture Performance Analysis</vt:lpstr>
      <vt:lpstr>PROBLEM  STATEMENT</vt:lpstr>
      <vt:lpstr>Project Description The project performs an end-to-end analysis of agricultural performance across Kharif, Rabi and Zaid seasons. The dataset is explored and cleaned using Python and Pandas, followed by descriptive analysis, correlation analysis, seasonal comparisons, crop-wise and state-wise analysis, statistical testing and visualizations.</vt:lpstr>
      <vt:lpstr>WHO ARE THE END USERS?</vt:lpstr>
      <vt:lpstr>Technology Used</vt:lpstr>
      <vt:lpstr>RESULTS – SEASONAL PERFORMANCE  </vt:lpstr>
      <vt:lpstr>RESULTS – PROFITABILITY &amp; STATISTICAL SIGNIFICANCE </vt:lpstr>
      <vt:lpstr>RESULTS – WATER &amp; ENVIRONMENTAL ANALYSIS</vt:lpstr>
      <vt:lpstr>RESULTS - CROP-WISE SEASONAL PERFORMANCE</vt:lpstr>
      <vt:lpstr>RESULTS – REGIONAL VARIATION &amp; KEY EXCEPTIONS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Aditya Shukla</cp:lastModifiedBy>
  <cp:revision>108</cp:revision>
  <dcterms:created xsi:type="dcterms:W3CDTF">2021-07-11T13:13:15Z</dcterms:created>
  <dcterms:modified xsi:type="dcterms:W3CDTF">2026-09-10T06:11:36Z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