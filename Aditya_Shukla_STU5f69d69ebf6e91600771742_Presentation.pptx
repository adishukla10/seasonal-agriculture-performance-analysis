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85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dishukla10/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99563" y="3500010"/>
            <a:ext cx="9000376" cy="861497"/>
          </a:xfrm>
        </p:spPr>
        <p:txBody>
          <a:bodyPr vert="horz" lIns="91440" tIns="45720" rIns="91440" bIns="45720" rtlCol="0" anchor="t">
            <a:noAutofit/>
          </a:bodyPr>
          <a:lstStyle/>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Aditya Shukla </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Modern Institute Of Technology &amp; Research Centre</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51577" y="2614543"/>
            <a:ext cx="8848362" cy="743448"/>
          </a:xfrm>
        </p:spPr>
        <p:txBody>
          <a:bodyPr>
            <a:normAutofit/>
          </a:bodyPr>
          <a:lstStyle/>
          <a:p>
            <a:pPr algn="ctr"/>
            <a:r>
              <a:rPr lang="en-IN" sz="3200" b="1" dirty="0">
                <a:solidFill>
                  <a:srgbClr val="1F3763"/>
                </a:solidFill>
                <a:latin typeface="Arial"/>
              </a:rPr>
              <a:t>Seasonal Agriculture Performance Analysis</a:t>
            </a: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134908" y="4656134"/>
            <a:ext cx="3529686" cy="646331"/>
          </a:xfrm>
          <a:prstGeom prst="rect">
            <a:avLst/>
          </a:prstGeom>
          <a:noFill/>
        </p:spPr>
        <p:txBody>
          <a:bodyPr wrap="square" rtlCol="0">
            <a:spAutoFit/>
          </a:bodyPr>
          <a:lstStyle/>
          <a:p>
            <a:pPr algn="ctr"/>
            <a:r>
              <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AICTE STU ID </a:t>
            </a:r>
            <a:r>
              <a:rPr lang="en-IN"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STU5f69d69ebf6e91600771742 </a:t>
            </a:r>
            <a:endPar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1" y="1593470"/>
            <a:ext cx="7241083" cy="4392838"/>
          </a:xfrm>
        </p:spPr>
        <p:txBody>
          <a:bodyPr vert="horz" lIns="91440" tIns="45720" rIns="91440" bIns="45720" rtlCol="0" anchor="t">
            <a:noAutofit/>
          </a:bodyPr>
          <a:lstStyle/>
          <a:p>
            <a:pPr>
              <a:lnSpc>
                <a:spcPct val="150000"/>
              </a:lnSpc>
            </a:pPr>
            <a:r>
              <a:rPr lang="en-US" sz="1800" dirty="0">
                <a:latin typeface="Arial" panose="020B0604020202020204" pitchFamily="34" charset="0"/>
                <a:ea typeface="Calibri" panose="020F050202020403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800" dirty="0">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1" y="550417"/>
            <a:ext cx="9377939" cy="790111"/>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PROBLEM  STATEMENT</a:t>
            </a:r>
            <a:endParaRPr lang="en-IN" sz="4000" dirty="0">
              <a:solidFill>
                <a:schemeClr val="accent2">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007601" cy="830997"/>
          </a:xfrm>
        </p:spPr>
        <p:txBody>
          <a:bodyPr>
            <a:normAutofit fontScale="90000"/>
          </a:bodyPr>
          <a:lstStyle/>
          <a:p>
            <a:pPr>
              <a:lnSpc>
                <a:spcPct val="150000"/>
              </a:lnSpc>
            </a:pPr>
            <a:r>
              <a:rPr lang="en-GB" sz="4400" dirty="0">
                <a:solidFill>
                  <a:schemeClr val="accent2">
                    <a:lumMod val="75000"/>
                  </a:schemeClr>
                </a:solidFill>
                <a:latin typeface="Arial" panose="020B0604020202020204" pitchFamily="34" charset="0"/>
                <a:cs typeface="Arial" panose="020B0604020202020204" pitchFamily="34" charset="0"/>
              </a:rPr>
              <a:t>Project Description</a:t>
            </a:r>
            <a:br>
              <a:rPr lang="en-GB" dirty="0"/>
            </a:br>
            <a:r>
              <a:rPr lang="en-US" sz="2200" b="0" dirty="0">
                <a:solidFill>
                  <a:srgbClr val="282828"/>
                </a:solidFill>
                <a:latin typeface="Arial"/>
              </a:rPr>
              <a:t>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61760"/>
            <a:ext cx="2255921" cy="203200"/>
          </a:xfrm>
          <a:prstGeom prst="rect">
            <a:avLst/>
          </a:prstGeom>
        </p:spPr>
      </p:pic>
      <p:sp>
        <p:nvSpPr>
          <p:cNvPr id="7" name="Rounded Rectangle 10">
            <a:extLst>
              <a:ext uri="{FF2B5EF4-FFF2-40B4-BE49-F238E27FC236}">
                <a16:creationId xmlns:a16="http://schemas.microsoft.com/office/drawing/2014/main" id="{EED53DDD-1630-442B-BCA8-311C49123976}"/>
              </a:ext>
            </a:extLst>
          </p:cNvPr>
          <p:cNvSpPr/>
          <p:nvPr/>
        </p:nvSpPr>
        <p:spPr>
          <a:xfrm>
            <a:off x="675957" y="4309775"/>
            <a:ext cx="3315547" cy="1572904"/>
          </a:xfrm>
          <a:prstGeom prst="roundRect">
            <a:avLst/>
          </a:prstGeom>
          <a:solidFill>
            <a:srgbClr val="EBF1FA"/>
          </a:solidFill>
          <a:ln>
            <a:solidFill>
              <a:srgbClr val="2F54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1F3763"/>
                </a:solidFill>
                <a:latin typeface="Arial"/>
              </a:rPr>
              <a:t>Dataset</a:t>
            </a:r>
          </a:p>
          <a:p>
            <a:r>
              <a:rPr lang="en-IN" sz="1300" dirty="0">
                <a:solidFill>
                  <a:srgbClr val="282828"/>
                </a:solidFill>
                <a:latin typeface="Arial"/>
              </a:rPr>
              <a:t>4000</a:t>
            </a:r>
            <a:r>
              <a:rPr sz="1300" dirty="0">
                <a:solidFill>
                  <a:srgbClr val="282828"/>
                </a:solidFill>
                <a:latin typeface="Arial"/>
              </a:rPr>
              <a:t> records
8 crops • 8 states • 3 seasons</a:t>
            </a:r>
          </a:p>
        </p:txBody>
      </p:sp>
      <p:pic>
        <p:nvPicPr>
          <p:cNvPr id="2" name="Picture 1">
            <a:extLst>
              <a:ext uri="{FF2B5EF4-FFF2-40B4-BE49-F238E27FC236}">
                <a16:creationId xmlns:a16="http://schemas.microsoft.com/office/drawing/2014/main" id="{D609CBF7-555E-4943-B0C7-2D383FCC2F4A}"/>
              </a:ext>
            </a:extLst>
          </p:cNvPr>
          <p:cNvPicPr>
            <a:picLocks noChangeAspect="1"/>
          </p:cNvPicPr>
          <p:nvPr/>
        </p:nvPicPr>
        <p:blipFill>
          <a:blip r:embed="rId3"/>
          <a:stretch>
            <a:fillRect/>
          </a:stretch>
        </p:blipFill>
        <p:spPr>
          <a:xfrm>
            <a:off x="4145831" y="4309775"/>
            <a:ext cx="3334801" cy="1572904"/>
          </a:xfrm>
          <a:prstGeom prst="rect">
            <a:avLst/>
          </a:prstGeom>
        </p:spPr>
      </p:pic>
      <p:pic>
        <p:nvPicPr>
          <p:cNvPr id="4" name="Picture 3">
            <a:extLst>
              <a:ext uri="{FF2B5EF4-FFF2-40B4-BE49-F238E27FC236}">
                <a16:creationId xmlns:a16="http://schemas.microsoft.com/office/drawing/2014/main" id="{F2CB73AE-DBF5-4703-9ADD-56CED14DCB7B}"/>
              </a:ext>
            </a:extLst>
          </p:cNvPr>
          <p:cNvPicPr>
            <a:picLocks noChangeAspect="1"/>
          </p:cNvPicPr>
          <p:nvPr/>
        </p:nvPicPr>
        <p:blipFill>
          <a:blip r:embed="rId4"/>
          <a:stretch>
            <a:fillRect/>
          </a:stretch>
        </p:blipFill>
        <p:spPr>
          <a:xfrm>
            <a:off x="7634959" y="4309775"/>
            <a:ext cx="3493311" cy="1469263"/>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10548003" cy="3990023"/>
          </a:xfrm>
        </p:spPr>
        <p:txBody>
          <a:bodyPr>
            <a:normAutofit/>
          </a:bodyPr>
          <a:lstStyle/>
          <a:p>
            <a:pPr>
              <a:lnSpc>
                <a:spcPct val="170000"/>
              </a:lnSpc>
              <a:spcAft>
                <a:spcPts val="600"/>
              </a:spcAft>
            </a:pPr>
            <a:r>
              <a:rPr lang="en-US" dirty="0">
                <a:solidFill>
                  <a:srgbClr val="282828"/>
                </a:solidFill>
                <a:latin typeface="Arial"/>
              </a:rPr>
              <a:t>Farmers and farm managers – support seasonal crop and resource planning.</a:t>
            </a:r>
          </a:p>
          <a:p>
            <a:pPr>
              <a:lnSpc>
                <a:spcPct val="170000"/>
              </a:lnSpc>
              <a:spcAft>
                <a:spcPts val="600"/>
              </a:spcAft>
            </a:pPr>
            <a:r>
              <a:rPr lang="en-US" dirty="0">
                <a:solidFill>
                  <a:srgbClr val="282828"/>
                </a:solidFill>
                <a:latin typeface="Arial"/>
              </a:rPr>
              <a:t>Agricultural planners – compare seasonal performance and profitability.</a:t>
            </a:r>
          </a:p>
          <a:p>
            <a:pPr>
              <a:lnSpc>
                <a:spcPct val="170000"/>
              </a:lnSpc>
              <a:spcAft>
                <a:spcPts val="600"/>
              </a:spcAft>
            </a:pPr>
            <a:r>
              <a:rPr lang="en-US" dirty="0">
                <a:solidFill>
                  <a:srgbClr val="282828"/>
                </a:solidFill>
                <a:latin typeface="Arial"/>
              </a:rPr>
              <a:t>Irrigation and resource managers – monitor water usage and efficiency.</a:t>
            </a:r>
          </a:p>
          <a:p>
            <a:pPr>
              <a:lnSpc>
                <a:spcPct val="170000"/>
              </a:lnSpc>
              <a:spcAft>
                <a:spcPts val="600"/>
              </a:spcAft>
            </a:pPr>
            <a:r>
              <a:rPr lang="en-US" dirty="0">
                <a:solidFill>
                  <a:srgbClr val="282828"/>
                </a:solidFill>
                <a:latin typeface="Arial"/>
              </a:rPr>
              <a:t>Agricultural analysts and researchers – study seasonal and regional patterns.</a:t>
            </a:r>
          </a:p>
          <a:p>
            <a:pPr>
              <a:lnSpc>
                <a:spcPct val="170000"/>
              </a:lnSpc>
              <a:spcAft>
                <a:spcPts val="600"/>
              </a:spcAft>
            </a:pPr>
            <a:r>
              <a:rPr lang="en-US" dirty="0">
                <a:solidFill>
                  <a:srgbClr val="282828"/>
                </a:solidFill>
                <a:latin typeface="Arial"/>
              </a:rPr>
              <a:t>Policy and development stakeholders – support evidence-based agricultural planning.</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solidFill>
                  <a:schemeClr val="accent2">
                    <a:lumMod val="75000"/>
                  </a:schemeClr>
                </a:solidFill>
                <a:latin typeface="Arial" panose="020B0604020202020204" pitchFamily="34" charset="0"/>
                <a:cs typeface="Arial" panose="020B0604020202020204" pitchFamily="34" charset="0"/>
              </a:rPr>
              <a:t>WHO ARE THE END USERS?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0734582" cy="5243448"/>
          </a:xfrm>
        </p:spPr>
        <p:txBody>
          <a:bodyPr>
            <a:normAutofit/>
          </a:bodyPr>
          <a:lstStyle/>
          <a:p>
            <a:pPr>
              <a:spcAft>
                <a:spcPts val="600"/>
              </a:spcAft>
            </a:pPr>
            <a:r>
              <a:rPr lang="en-IN" b="1" dirty="0">
                <a:solidFill>
                  <a:srgbClr val="282828"/>
                </a:solidFill>
                <a:latin typeface="Arial"/>
              </a:rPr>
              <a:t>Python – primary programming language for analysis.</a:t>
            </a:r>
          </a:p>
          <a:p>
            <a:pPr>
              <a:spcAft>
                <a:spcPts val="600"/>
              </a:spcAft>
            </a:pPr>
            <a:r>
              <a:rPr lang="en-IN" b="1" dirty="0">
                <a:solidFill>
                  <a:srgbClr val="282828"/>
                </a:solidFill>
                <a:latin typeface="Arial"/>
              </a:rPr>
              <a:t>Pandas – data loading, cleaning, grouping and aggregation.</a:t>
            </a:r>
          </a:p>
          <a:p>
            <a:pPr>
              <a:spcAft>
                <a:spcPts val="600"/>
              </a:spcAft>
            </a:pPr>
            <a:r>
              <a:rPr lang="en-IN" b="1" dirty="0">
                <a:solidFill>
                  <a:srgbClr val="282828"/>
                </a:solidFill>
                <a:latin typeface="Arial"/>
              </a:rPr>
              <a:t>NumPy – numerical operations.</a:t>
            </a:r>
          </a:p>
          <a:p>
            <a:pPr>
              <a:spcAft>
                <a:spcPts val="600"/>
              </a:spcAft>
            </a:pPr>
            <a:r>
              <a:rPr lang="en-IN" b="1" dirty="0">
                <a:solidFill>
                  <a:srgbClr val="282828"/>
                </a:solidFill>
                <a:latin typeface="Arial"/>
              </a:rPr>
              <a:t>Matplotlib and Seaborn – charts, comparisons and heatmaps.</a:t>
            </a:r>
          </a:p>
          <a:p>
            <a:pPr>
              <a:spcAft>
                <a:spcPts val="600"/>
              </a:spcAft>
            </a:pPr>
            <a:r>
              <a:rPr lang="en-IN" b="1" dirty="0">
                <a:solidFill>
                  <a:srgbClr val="282828"/>
                </a:solidFill>
                <a:latin typeface="Arial"/>
              </a:rPr>
              <a:t>Jupyter Notebook – analysis, documentation and reproducible workflow.</a:t>
            </a:r>
          </a:p>
          <a:p>
            <a:pPr>
              <a:spcAft>
                <a:spcPts val="600"/>
              </a:spcAft>
            </a:pPr>
            <a:r>
              <a:rPr lang="en-IN" b="1" dirty="0">
                <a:solidFill>
                  <a:srgbClr val="282828"/>
                </a:solidFill>
                <a:latin typeface="Arial"/>
              </a:rPr>
              <a:t>Statistical techniques – correlation analysis and one-way ANOVA.</a:t>
            </a:r>
          </a:p>
          <a:p>
            <a:pPr>
              <a:spcAft>
                <a:spcPts val="600"/>
              </a:spcAft>
            </a:pPr>
            <a:br>
              <a:rPr lang="en-IN" sz="100" b="1" dirty="0">
                <a:solidFill>
                  <a:srgbClr val="282828"/>
                </a:solidFill>
                <a:latin typeface="Arial"/>
              </a:rPr>
            </a:br>
            <a:r>
              <a:rPr lang="en-US" b="1" dirty="0">
                <a:solidFill>
                  <a:srgbClr val="282828"/>
                </a:solidFill>
                <a:latin typeface="Arial"/>
              </a:rPr>
              <a:t>Visual Studio Code (VS Code) – development environment used to run and manage the Jupyter Notebook</a:t>
            </a:r>
            <a:endParaRPr lang="en-IN" b="1" dirty="0">
              <a:solidFill>
                <a:srgbClr val="282828"/>
              </a:solidFill>
              <a:latin typeface="Arial"/>
            </a:endParaRP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7581558" cy="847817"/>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11007552" cy="830997"/>
          </a:xfrm>
        </p:spPr>
        <p:txBody>
          <a:bodyPr>
            <a:normAutofit fontScale="90000"/>
          </a:bodyPr>
          <a:lstStyle/>
          <a:p>
            <a:r>
              <a:rPr lang="en-IN" sz="2700" dirty="0">
                <a:solidFill>
                  <a:srgbClr val="1F3763"/>
                </a:solidFill>
                <a:latin typeface="Arial"/>
              </a:rPr>
              <a:t>RESULTS – SEASONAL PERFORMANCE</a:t>
            </a:r>
            <a:br>
              <a:rPr lang="en-IN" dirty="0">
                <a:solidFill>
                  <a:srgbClr val="1F3763"/>
                </a:solidFill>
                <a:latin typeface="Arial"/>
              </a:rPr>
            </a:b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9722F4A-BF46-4A11-86E1-B22A354623E0}"/>
              </a:ext>
            </a:extLst>
          </p:cNvPr>
          <p:cNvPicPr>
            <a:picLocks noChangeAspect="1"/>
          </p:cNvPicPr>
          <p:nvPr/>
        </p:nvPicPr>
        <p:blipFill>
          <a:blip r:embed="rId3"/>
          <a:stretch>
            <a:fillRect/>
          </a:stretch>
        </p:blipFill>
        <p:spPr>
          <a:xfrm>
            <a:off x="6197111" y="1275371"/>
            <a:ext cx="1743607" cy="1170533"/>
          </a:xfrm>
          <a:prstGeom prst="rect">
            <a:avLst/>
          </a:prstGeom>
        </p:spPr>
      </p:pic>
      <p:sp>
        <p:nvSpPr>
          <p:cNvPr id="3" name="Text Placeholder 2">
            <a:extLst>
              <a:ext uri="{FF2B5EF4-FFF2-40B4-BE49-F238E27FC236}">
                <a16:creationId xmlns:a16="http://schemas.microsoft.com/office/drawing/2014/main" id="{5CA8FB68-4E71-4559-8254-0BCF531E6D4D}"/>
              </a:ext>
            </a:extLst>
          </p:cNvPr>
          <p:cNvSpPr>
            <a:spLocks noGrp="1"/>
          </p:cNvSpPr>
          <p:nvPr>
            <p:ph type="body" sz="quarter" idx="12"/>
          </p:nvPr>
        </p:nvSpPr>
        <p:spPr>
          <a:xfrm>
            <a:off x="6197111" y="2923673"/>
            <a:ext cx="5486398" cy="3548247"/>
          </a:xfrm>
        </p:spPr>
        <p:txBody>
          <a:bodyPr/>
          <a:lstStyle/>
          <a:p>
            <a:pPr>
              <a:spcAft>
                <a:spcPts val="600"/>
              </a:spcAft>
            </a:pPr>
            <a:r>
              <a:rPr lang="en-US" sz="2000" dirty="0">
                <a:solidFill>
                  <a:srgbClr val="282828"/>
                </a:solidFill>
                <a:latin typeface="Arial"/>
              </a:rPr>
              <a:t>Kharif recorded the highest descriptive average yield.</a:t>
            </a:r>
          </a:p>
          <a:p>
            <a:pPr>
              <a:spcAft>
                <a:spcPts val="600"/>
              </a:spcAft>
            </a:pPr>
            <a:r>
              <a:rPr lang="en-US" sz="2000" dirty="0">
                <a:solidFill>
                  <a:srgbClr val="282828"/>
                </a:solidFill>
                <a:latin typeface="Arial"/>
              </a:rPr>
              <a:t>Rabi ranked second and Zaid ranked third.</a:t>
            </a:r>
          </a:p>
          <a:p>
            <a:pPr>
              <a:spcAft>
                <a:spcPts val="600"/>
              </a:spcAft>
            </a:pPr>
            <a:r>
              <a:rPr lang="en-US" sz="2000" dirty="0">
                <a:solidFill>
                  <a:srgbClr val="282828"/>
                </a:solidFill>
                <a:latin typeface="Arial"/>
              </a:rPr>
              <a:t>Yield ANOVA: p </a:t>
            </a:r>
            <a:r>
              <a:rPr lang="en-US" sz="2000">
                <a:solidFill>
                  <a:srgbClr val="282828"/>
                </a:solidFill>
                <a:latin typeface="Arial"/>
              </a:rPr>
              <a:t>= 0.228.</a:t>
            </a:r>
            <a:endParaRPr lang="en-US" sz="2000" dirty="0">
              <a:solidFill>
                <a:srgbClr val="282828"/>
              </a:solidFill>
              <a:latin typeface="Arial"/>
            </a:endParaRPr>
          </a:p>
          <a:p>
            <a:pPr>
              <a:spcAft>
                <a:spcPts val="600"/>
              </a:spcAft>
            </a:pPr>
            <a:r>
              <a:rPr lang="en-US" sz="2000" dirty="0">
                <a:solidFill>
                  <a:srgbClr val="282828"/>
                </a:solidFill>
                <a:latin typeface="Arial"/>
              </a:rPr>
              <a:t>Seasonal yield differences were not statistically significant at the 5% level.</a:t>
            </a:r>
          </a:p>
          <a:p>
            <a:endParaRPr lang="hi-IN" dirty="0"/>
          </a:p>
        </p:txBody>
      </p:sp>
      <p:pic>
        <p:nvPicPr>
          <p:cNvPr id="9" name="Picture 8" descr="yield.png">
            <a:extLst>
              <a:ext uri="{FF2B5EF4-FFF2-40B4-BE49-F238E27FC236}">
                <a16:creationId xmlns:a16="http://schemas.microsoft.com/office/drawing/2014/main" id="{5BB1A2FB-D872-4664-9398-23958D2C62B6}"/>
              </a:ext>
            </a:extLst>
          </p:cNvPr>
          <p:cNvPicPr>
            <a:picLocks noChangeAspect="1"/>
          </p:cNvPicPr>
          <p:nvPr/>
        </p:nvPicPr>
        <p:blipFill>
          <a:blip r:embed="rId4"/>
          <a:stretch>
            <a:fillRect/>
          </a:stretch>
        </p:blipFill>
        <p:spPr>
          <a:xfrm>
            <a:off x="508491" y="1275371"/>
            <a:ext cx="5486400" cy="3927368"/>
          </a:xfrm>
          <a:prstGeom prst="rect">
            <a:avLst/>
          </a:prstGeom>
        </p:spPr>
      </p:pic>
      <p:pic>
        <p:nvPicPr>
          <p:cNvPr id="12" name="Picture 11">
            <a:extLst>
              <a:ext uri="{FF2B5EF4-FFF2-40B4-BE49-F238E27FC236}">
                <a16:creationId xmlns:a16="http://schemas.microsoft.com/office/drawing/2014/main" id="{2799DBCF-DA3C-49AC-8140-401F6F29DBA7}"/>
              </a:ext>
            </a:extLst>
          </p:cNvPr>
          <p:cNvPicPr>
            <a:picLocks noChangeAspect="1"/>
          </p:cNvPicPr>
          <p:nvPr/>
        </p:nvPicPr>
        <p:blipFill>
          <a:blip r:embed="rId5"/>
          <a:stretch>
            <a:fillRect/>
          </a:stretch>
        </p:blipFill>
        <p:spPr>
          <a:xfrm>
            <a:off x="8161228" y="1275370"/>
            <a:ext cx="1712654" cy="1170533"/>
          </a:xfrm>
          <a:prstGeom prst="rect">
            <a:avLst/>
          </a:prstGeom>
        </p:spPr>
      </p:pic>
      <p:pic>
        <p:nvPicPr>
          <p:cNvPr id="13" name="Picture 12">
            <a:extLst>
              <a:ext uri="{FF2B5EF4-FFF2-40B4-BE49-F238E27FC236}">
                <a16:creationId xmlns:a16="http://schemas.microsoft.com/office/drawing/2014/main" id="{6139E456-7944-4385-8B7C-48BAFDF54A80}"/>
              </a:ext>
            </a:extLst>
          </p:cNvPr>
          <p:cNvPicPr>
            <a:picLocks noChangeAspect="1"/>
          </p:cNvPicPr>
          <p:nvPr/>
        </p:nvPicPr>
        <p:blipFill>
          <a:blip r:embed="rId6"/>
          <a:stretch>
            <a:fillRect/>
          </a:stretch>
        </p:blipFill>
        <p:spPr>
          <a:xfrm>
            <a:off x="10050157" y="1255173"/>
            <a:ext cx="1743607" cy="117053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idx="4294967295"/>
          </p:nvPr>
        </p:nvSpPr>
        <p:spPr>
          <a:xfrm>
            <a:off x="-1" y="804863"/>
            <a:ext cx="11442357" cy="831850"/>
          </a:xfrm>
        </p:spPr>
        <p:txBody>
          <a:bodyPr>
            <a:normAutofit fontScale="90000"/>
          </a:bodyPr>
          <a:lstStyle/>
          <a:p>
            <a:r>
              <a:rPr lang="en-GB" sz="2700" b="1" dirty="0">
                <a:solidFill>
                  <a:schemeClr val="accent2">
                    <a:lumMod val="75000"/>
                  </a:schemeClr>
                </a:solidFill>
              </a:rPr>
              <a:t>RESULTS </a:t>
            </a:r>
            <a:r>
              <a:rPr lang="en-IN" sz="2700" b="1" dirty="0">
                <a:solidFill>
                  <a:schemeClr val="accent2">
                    <a:lumMod val="75000"/>
                  </a:schemeClr>
                </a:solidFill>
                <a:latin typeface="Arial"/>
              </a:rPr>
              <a:t>– PROFITABILITY &amp; STATISTICAL SIGNIFICANCE</a:t>
            </a:r>
            <a:br>
              <a:rPr lang="en-IN" dirty="0">
                <a:solidFill>
                  <a:srgbClr val="1F3763"/>
                </a:solidFill>
                <a:latin typeface="Arial"/>
              </a:rPr>
            </a:br>
            <a:endParaRPr lang="en-IN" dirty="0"/>
          </a:p>
        </p:txBody>
      </p:sp>
      <p:sp>
        <p:nvSpPr>
          <p:cNvPr id="12" name="Text Placeholder 11">
            <a:extLst>
              <a:ext uri="{FF2B5EF4-FFF2-40B4-BE49-F238E27FC236}">
                <a16:creationId xmlns:a16="http://schemas.microsoft.com/office/drawing/2014/main" id="{32A7C639-6D47-4285-B5A1-A80EA4014F61}"/>
              </a:ext>
            </a:extLst>
          </p:cNvPr>
          <p:cNvSpPr>
            <a:spLocks noGrp="1"/>
          </p:cNvSpPr>
          <p:nvPr>
            <p:ph type="body" sz="quarter" idx="4294967295"/>
          </p:nvPr>
        </p:nvSpPr>
        <p:spPr>
          <a:xfrm>
            <a:off x="351290" y="3050777"/>
            <a:ext cx="5744709" cy="2192957"/>
          </a:xfrm>
        </p:spPr>
        <p:txBody>
          <a:bodyPr/>
          <a:lstStyle/>
          <a:p>
            <a:pPr>
              <a:spcAft>
                <a:spcPts val="600"/>
              </a:spcAft>
            </a:pPr>
            <a:r>
              <a:rPr lang="en-US" sz="1400" dirty="0">
                <a:solidFill>
                  <a:srgbClr val="282828"/>
                </a:solidFill>
                <a:latin typeface="Arial"/>
              </a:rPr>
              <a:t>Kharif showed the strongest average profitability.</a:t>
            </a:r>
          </a:p>
          <a:p>
            <a:pPr>
              <a:spcAft>
                <a:spcPts val="600"/>
              </a:spcAft>
            </a:pPr>
            <a:r>
              <a:rPr lang="en-US" sz="1400" dirty="0">
                <a:solidFill>
                  <a:srgbClr val="282828"/>
                </a:solidFill>
                <a:latin typeface="Arial"/>
              </a:rPr>
              <a:t>Zaid recorded an average loss.</a:t>
            </a:r>
          </a:p>
          <a:p>
            <a:pPr>
              <a:spcAft>
                <a:spcPts val="600"/>
              </a:spcAft>
            </a:pPr>
            <a:r>
              <a:rPr lang="en-US" sz="1400" dirty="0">
                <a:solidFill>
                  <a:srgbClr val="282828"/>
                </a:solidFill>
                <a:latin typeface="Arial"/>
              </a:rPr>
              <a:t>Profit ANOVA: F = 34.29, p &lt; 0.001.</a:t>
            </a:r>
          </a:p>
          <a:p>
            <a:pPr>
              <a:spcAft>
                <a:spcPts val="600"/>
              </a:spcAft>
            </a:pPr>
            <a:r>
              <a:rPr lang="en-US" sz="1400" dirty="0">
                <a:solidFill>
                  <a:srgbClr val="282828"/>
                </a:solidFill>
                <a:latin typeface="Arial"/>
              </a:rPr>
              <a:t>Seasonal differences in average profit were statistically significant</a:t>
            </a:r>
            <a:endParaRPr lang="hi-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4C6BDA6-1CAC-4F40-82C9-4F7DCC13DB35}"/>
              </a:ext>
            </a:extLst>
          </p:cNvPr>
          <p:cNvPicPr>
            <a:picLocks noChangeAspect="1"/>
          </p:cNvPicPr>
          <p:nvPr/>
        </p:nvPicPr>
        <p:blipFill>
          <a:blip r:embed="rId3"/>
          <a:stretch>
            <a:fillRect/>
          </a:stretch>
        </p:blipFill>
        <p:spPr>
          <a:xfrm>
            <a:off x="6298694" y="1602231"/>
            <a:ext cx="5486876" cy="3980397"/>
          </a:xfrm>
          <a:prstGeom prst="rect">
            <a:avLst/>
          </a:prstGeom>
        </p:spPr>
      </p:pic>
      <p:pic>
        <p:nvPicPr>
          <p:cNvPr id="3" name="Picture 2">
            <a:extLst>
              <a:ext uri="{FF2B5EF4-FFF2-40B4-BE49-F238E27FC236}">
                <a16:creationId xmlns:a16="http://schemas.microsoft.com/office/drawing/2014/main" id="{44D90085-2768-4E76-8BDF-452F106651E4}"/>
              </a:ext>
            </a:extLst>
          </p:cNvPr>
          <p:cNvPicPr>
            <a:picLocks noChangeAspect="1"/>
          </p:cNvPicPr>
          <p:nvPr/>
        </p:nvPicPr>
        <p:blipFill>
          <a:blip r:embed="rId4"/>
          <a:stretch>
            <a:fillRect/>
          </a:stretch>
        </p:blipFill>
        <p:spPr>
          <a:xfrm>
            <a:off x="402207" y="1696420"/>
            <a:ext cx="1822862" cy="1097375"/>
          </a:xfrm>
          <a:prstGeom prst="rect">
            <a:avLst/>
          </a:prstGeom>
        </p:spPr>
      </p:pic>
      <p:pic>
        <p:nvPicPr>
          <p:cNvPr id="6" name="Picture 5">
            <a:extLst>
              <a:ext uri="{FF2B5EF4-FFF2-40B4-BE49-F238E27FC236}">
                <a16:creationId xmlns:a16="http://schemas.microsoft.com/office/drawing/2014/main" id="{0E9F3EDA-1C8F-48F9-B658-6BDC9D9CB746}"/>
              </a:ext>
            </a:extLst>
          </p:cNvPr>
          <p:cNvPicPr>
            <a:picLocks noChangeAspect="1"/>
          </p:cNvPicPr>
          <p:nvPr/>
        </p:nvPicPr>
        <p:blipFill>
          <a:blip r:embed="rId5"/>
          <a:stretch>
            <a:fillRect/>
          </a:stretch>
        </p:blipFill>
        <p:spPr>
          <a:xfrm>
            <a:off x="2282714" y="1614266"/>
            <a:ext cx="1835055" cy="1103472"/>
          </a:xfrm>
          <a:prstGeom prst="rect">
            <a:avLst/>
          </a:prstGeom>
        </p:spPr>
      </p:pic>
      <p:pic>
        <p:nvPicPr>
          <p:cNvPr id="9" name="Picture 8">
            <a:extLst>
              <a:ext uri="{FF2B5EF4-FFF2-40B4-BE49-F238E27FC236}">
                <a16:creationId xmlns:a16="http://schemas.microsoft.com/office/drawing/2014/main" id="{283AE3DB-51BE-440F-8393-7DB84FBE562F}"/>
              </a:ext>
            </a:extLst>
          </p:cNvPr>
          <p:cNvPicPr>
            <a:picLocks noChangeAspect="1"/>
          </p:cNvPicPr>
          <p:nvPr/>
        </p:nvPicPr>
        <p:blipFill>
          <a:blip r:embed="rId6"/>
          <a:stretch>
            <a:fillRect/>
          </a:stretch>
        </p:blipFill>
        <p:spPr>
          <a:xfrm>
            <a:off x="4233059" y="1642569"/>
            <a:ext cx="1835055" cy="11034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6" y="370589"/>
            <a:ext cx="5394959" cy="904782"/>
          </a:xfrm>
        </p:spPr>
        <p:txBody>
          <a:bodyPr>
            <a:normAutofit/>
          </a:bodyPr>
          <a:lstStyle/>
          <a:p>
            <a:r>
              <a:rPr lang="en-GB" sz="2000" dirty="0">
                <a:solidFill>
                  <a:schemeClr val="accent2">
                    <a:lumMod val="75000"/>
                  </a:schemeClr>
                </a:solidFill>
                <a:latin typeface="Arial" panose="020B0604020202020204" pitchFamily="34" charset="0"/>
                <a:cs typeface="Arial" panose="020B0604020202020204" pitchFamily="34" charset="0"/>
              </a:rPr>
              <a:t>RESULTS </a:t>
            </a:r>
            <a:r>
              <a:rPr lang="en-IN" sz="2000" dirty="0">
                <a:solidFill>
                  <a:schemeClr val="accent2">
                    <a:lumMod val="75000"/>
                  </a:schemeClr>
                </a:solidFill>
                <a:latin typeface="Arial"/>
              </a:rPr>
              <a:t>– WATER &amp; ENVIRONMENTAL ANALYSIS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A74073A8-91B9-4532-BF5E-66558D7D779A}"/>
              </a:ext>
            </a:extLst>
          </p:cNvPr>
          <p:cNvSpPr>
            <a:spLocks noGrp="1"/>
          </p:cNvSpPr>
          <p:nvPr>
            <p:ph type="body" sz="quarter" idx="12"/>
          </p:nvPr>
        </p:nvSpPr>
        <p:spPr>
          <a:xfrm>
            <a:off x="668131" y="1648618"/>
            <a:ext cx="5144075" cy="3560763"/>
          </a:xfrm>
        </p:spPr>
        <p:txBody>
          <a:bodyPr>
            <a:normAutofit/>
          </a:bodyPr>
          <a:lstStyle/>
          <a:p>
            <a:pPr>
              <a:lnSpc>
                <a:spcPct val="150000"/>
              </a:lnSpc>
              <a:spcAft>
                <a:spcPts val="600"/>
              </a:spcAft>
            </a:pPr>
            <a:r>
              <a:rPr lang="en-US" sz="1800" dirty="0">
                <a:solidFill>
                  <a:srgbClr val="282828"/>
                </a:solidFill>
                <a:latin typeface="Arial"/>
              </a:rPr>
              <a:t>Zaid had the highest average water use (6,419.89 m³) and lowest water efficiency (4.41 t/1,000 m³).</a:t>
            </a:r>
          </a:p>
          <a:p>
            <a:pPr>
              <a:lnSpc>
                <a:spcPct val="150000"/>
              </a:lnSpc>
              <a:spcAft>
                <a:spcPts val="600"/>
              </a:spcAft>
            </a:pPr>
            <a:r>
              <a:rPr lang="en-US" sz="1800" dirty="0">
                <a:solidFill>
                  <a:srgbClr val="282828"/>
                </a:solidFill>
                <a:latin typeface="Arial"/>
              </a:rPr>
              <a:t>Rainfall–yield correlation was close to zero overall; rainfall alone did not strongly explain yield variation</a:t>
            </a:r>
            <a:endParaRPr lang="hi-IN" sz="1800" dirty="0"/>
          </a:p>
        </p:txBody>
      </p:sp>
      <p:pic>
        <p:nvPicPr>
          <p:cNvPr id="9" name="Picture 8" descr="water.png">
            <a:extLst>
              <a:ext uri="{FF2B5EF4-FFF2-40B4-BE49-F238E27FC236}">
                <a16:creationId xmlns:a16="http://schemas.microsoft.com/office/drawing/2014/main" id="{A66DDD43-259C-4128-B39A-37F9B0E38BBA}"/>
              </a:ext>
            </a:extLst>
          </p:cNvPr>
          <p:cNvPicPr>
            <a:picLocks noChangeAspect="1"/>
          </p:cNvPicPr>
          <p:nvPr/>
        </p:nvPicPr>
        <p:blipFill>
          <a:blip r:embed="rId3"/>
          <a:stretch>
            <a:fillRect/>
          </a:stretch>
        </p:blipFill>
        <p:spPr>
          <a:xfrm>
            <a:off x="6096000" y="483184"/>
            <a:ext cx="5394960" cy="3043088"/>
          </a:xfrm>
          <a:prstGeom prst="rect">
            <a:avLst/>
          </a:prstGeom>
        </p:spPr>
      </p:pic>
      <p:pic>
        <p:nvPicPr>
          <p:cNvPr id="6" name="Picture 5">
            <a:extLst>
              <a:ext uri="{FF2B5EF4-FFF2-40B4-BE49-F238E27FC236}">
                <a16:creationId xmlns:a16="http://schemas.microsoft.com/office/drawing/2014/main" id="{E8C30997-271C-44F1-8032-D852B06C9DD5}"/>
              </a:ext>
            </a:extLst>
          </p:cNvPr>
          <p:cNvPicPr>
            <a:picLocks noChangeAspect="1"/>
          </p:cNvPicPr>
          <p:nvPr/>
        </p:nvPicPr>
        <p:blipFill>
          <a:blip r:embed="rId4"/>
          <a:stretch>
            <a:fillRect/>
          </a:stretch>
        </p:blipFill>
        <p:spPr>
          <a:xfrm>
            <a:off x="6096000" y="3694670"/>
            <a:ext cx="5427869" cy="30951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1143510" cy="830997"/>
          </a:xfrm>
        </p:spPr>
        <p:txBody>
          <a:bodyPr>
            <a:normAutofit/>
          </a:bodyPr>
          <a:lstStyle/>
          <a:p>
            <a:r>
              <a:rPr lang="en-GB" sz="2800" dirty="0">
                <a:solidFill>
                  <a:schemeClr val="accent2">
                    <a:lumMod val="75000"/>
                  </a:schemeClr>
                </a:solidFill>
                <a:latin typeface="Arial" panose="020B0604020202020204" pitchFamily="34" charset="0"/>
                <a:cs typeface="Arial" panose="020B0604020202020204" pitchFamily="34" charset="0"/>
              </a:rPr>
              <a:t>RESULTS - </a:t>
            </a:r>
            <a:r>
              <a:rPr lang="en-IN" sz="2800" dirty="0">
                <a:solidFill>
                  <a:schemeClr val="accent2">
                    <a:lumMod val="75000"/>
                  </a:schemeClr>
                </a:solidFill>
                <a:latin typeface="Arial" panose="020B0604020202020204" pitchFamily="34" charset="0"/>
                <a:cs typeface="Arial" panose="020B0604020202020204" pitchFamily="34" charset="0"/>
              </a:rPr>
              <a:t>CROP-WISE SEASONAL PERFORMANCE</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262D99C8-2292-4732-A02B-041070B18586}"/>
              </a:ext>
            </a:extLst>
          </p:cNvPr>
          <p:cNvSpPr>
            <a:spLocks noGrp="1"/>
          </p:cNvSpPr>
          <p:nvPr>
            <p:ph type="body" sz="quarter" idx="12"/>
          </p:nvPr>
        </p:nvSpPr>
        <p:spPr>
          <a:xfrm>
            <a:off x="675957" y="1355789"/>
            <a:ext cx="5201429" cy="3560763"/>
          </a:xfrm>
        </p:spPr>
        <p:txBody>
          <a:bodyPr>
            <a:normAutofit fontScale="70000" lnSpcReduction="20000"/>
          </a:bodyPr>
          <a:lstStyle/>
          <a:p>
            <a:pPr>
              <a:lnSpc>
                <a:spcPct val="160000"/>
              </a:lnSpc>
              <a:spcAft>
                <a:spcPts val="600"/>
              </a:spcAft>
            </a:pPr>
            <a:r>
              <a:rPr lang="en-US" sz="2000" dirty="0">
                <a:solidFill>
                  <a:srgbClr val="282828"/>
                </a:solidFill>
                <a:latin typeface="Arial"/>
              </a:rPr>
              <a:t>All eight crops recorded their highest average yield in Kharif, followed by Rabi and Zaid.</a:t>
            </a:r>
          </a:p>
          <a:p>
            <a:pPr>
              <a:lnSpc>
                <a:spcPct val="160000"/>
              </a:lnSpc>
              <a:spcAft>
                <a:spcPts val="600"/>
              </a:spcAft>
            </a:pPr>
            <a:r>
              <a:rPr lang="en-US" sz="2000" dirty="0">
                <a:solidFill>
                  <a:srgbClr val="282828"/>
                </a:solidFill>
                <a:latin typeface="Arial"/>
              </a:rPr>
              <a:t>Sugarcane had a much higher yield level than the other crops.</a:t>
            </a:r>
          </a:p>
          <a:p>
            <a:pPr>
              <a:lnSpc>
                <a:spcPct val="160000"/>
              </a:lnSpc>
              <a:spcAft>
                <a:spcPts val="600"/>
              </a:spcAft>
            </a:pPr>
            <a:r>
              <a:rPr lang="en-US" sz="2000" dirty="0">
                <a:solidFill>
                  <a:srgbClr val="282828"/>
                </a:solidFill>
                <a:latin typeface="Arial"/>
              </a:rPr>
              <a:t>Crop-wise production followed the same broad seasonal pattern.</a:t>
            </a:r>
          </a:p>
          <a:p>
            <a:pPr>
              <a:lnSpc>
                <a:spcPct val="160000"/>
              </a:lnSpc>
              <a:spcAft>
                <a:spcPts val="600"/>
              </a:spcAft>
            </a:pPr>
            <a:r>
              <a:rPr lang="en-US" sz="2000" dirty="0">
                <a:solidFill>
                  <a:srgbClr val="282828"/>
                </a:solidFill>
                <a:latin typeface="Arial"/>
              </a:rPr>
              <a:t>Profitability did not always follow yield or production; several crops showed negative average profit, especially in Zaid.</a:t>
            </a:r>
          </a:p>
          <a:p>
            <a:endParaRPr lang="hi-IN" dirty="0"/>
          </a:p>
        </p:txBody>
      </p:sp>
      <p:pic>
        <p:nvPicPr>
          <p:cNvPr id="6" name="Picture 5">
            <a:extLst>
              <a:ext uri="{FF2B5EF4-FFF2-40B4-BE49-F238E27FC236}">
                <a16:creationId xmlns:a16="http://schemas.microsoft.com/office/drawing/2014/main" id="{1BCDD101-3599-42B1-BB74-44338B5FC4FF}"/>
              </a:ext>
            </a:extLst>
          </p:cNvPr>
          <p:cNvPicPr>
            <a:picLocks noChangeAspect="1"/>
          </p:cNvPicPr>
          <p:nvPr/>
        </p:nvPicPr>
        <p:blipFill>
          <a:blip r:embed="rId3"/>
          <a:stretch>
            <a:fillRect/>
          </a:stretch>
        </p:blipFill>
        <p:spPr>
          <a:xfrm>
            <a:off x="5877386" y="1275371"/>
            <a:ext cx="5669771" cy="360914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10652443" cy="760408"/>
          </a:xfrm>
        </p:spPr>
        <p:txBody>
          <a:bodyPr>
            <a:normAutofit fontScale="90000"/>
          </a:bodyPr>
          <a:lstStyle/>
          <a:p>
            <a:r>
              <a:rPr lang="en-GB" sz="3100" dirty="0">
                <a:solidFill>
                  <a:schemeClr val="accent2">
                    <a:lumMod val="75000"/>
                  </a:schemeClr>
                </a:solidFill>
                <a:latin typeface="Arial" panose="020B0604020202020204" pitchFamily="34" charset="0"/>
                <a:cs typeface="Arial" panose="020B0604020202020204" pitchFamily="34" charset="0"/>
              </a:rPr>
              <a:t>RESULTS </a:t>
            </a:r>
            <a:r>
              <a:rPr lang="en-IN" sz="3100" dirty="0">
                <a:solidFill>
                  <a:schemeClr val="accent2">
                    <a:lumMod val="75000"/>
                  </a:schemeClr>
                </a:solidFill>
                <a:latin typeface="Arial" panose="020B0604020202020204" pitchFamily="34" charset="0"/>
                <a:cs typeface="Arial" panose="020B0604020202020204" pitchFamily="34" charset="0"/>
              </a:rPr>
              <a:t>– REGIONAL VARIATION &amp; KEY EXCEPTIONS</a:t>
            </a:r>
            <a:br>
              <a:rPr lang="en-IN" dirty="0">
                <a:solidFill>
                  <a:srgbClr val="1F3763"/>
                </a:solidFill>
                <a:latin typeface="Arial"/>
              </a:rPr>
            </a:br>
            <a:endParaRPr lang="en-IN"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7C435E8A-0BDE-4CDD-BF09-D2CA12C302A8}"/>
              </a:ext>
            </a:extLst>
          </p:cNvPr>
          <p:cNvSpPr>
            <a:spLocks noGrp="1"/>
          </p:cNvSpPr>
          <p:nvPr>
            <p:ph type="body" sz="quarter" idx="12"/>
          </p:nvPr>
        </p:nvSpPr>
        <p:spPr>
          <a:xfrm>
            <a:off x="681512" y="1252096"/>
            <a:ext cx="5409513" cy="4330533"/>
          </a:xfrm>
        </p:spPr>
        <p:txBody>
          <a:bodyPr>
            <a:noAutofit/>
          </a:bodyPr>
          <a:lstStyle/>
          <a:p>
            <a:pPr>
              <a:lnSpc>
                <a:spcPct val="170000"/>
              </a:lnSpc>
              <a:spcAft>
                <a:spcPts val="600"/>
              </a:spcAft>
            </a:pPr>
            <a:r>
              <a:rPr lang="en-US" sz="1400" dirty="0">
                <a:solidFill>
                  <a:srgbClr val="282828"/>
                </a:solidFill>
                <a:latin typeface="Arial"/>
              </a:rPr>
              <a:t>Seasonal performance was not uniform across states.</a:t>
            </a:r>
          </a:p>
          <a:p>
            <a:pPr>
              <a:lnSpc>
                <a:spcPct val="170000"/>
              </a:lnSpc>
              <a:spcAft>
                <a:spcPts val="600"/>
              </a:spcAft>
            </a:pPr>
            <a:r>
              <a:rPr lang="en-US" sz="1400" dirty="0">
                <a:solidFill>
                  <a:srgbClr val="282828"/>
                </a:solidFill>
                <a:latin typeface="Arial"/>
              </a:rPr>
              <a:t>Punjab recorded its highest average yield in Rabi (8.61 t/ha).</a:t>
            </a:r>
          </a:p>
          <a:p>
            <a:pPr>
              <a:lnSpc>
                <a:spcPct val="170000"/>
              </a:lnSpc>
              <a:spcAft>
                <a:spcPts val="600"/>
              </a:spcAft>
            </a:pPr>
            <a:r>
              <a:rPr lang="en-US" sz="1400" dirty="0">
                <a:solidFill>
                  <a:srgbClr val="282828"/>
                </a:solidFill>
                <a:latin typeface="Arial"/>
              </a:rPr>
              <a:t>Karnataka recorded its highest average yield in Zaid (6.62 t/ha).</a:t>
            </a:r>
          </a:p>
          <a:p>
            <a:pPr>
              <a:lnSpc>
                <a:spcPct val="170000"/>
              </a:lnSpc>
              <a:spcAft>
                <a:spcPts val="600"/>
              </a:spcAft>
            </a:pPr>
            <a:r>
              <a:rPr lang="en-US" sz="1400" dirty="0">
                <a:solidFill>
                  <a:srgbClr val="282828"/>
                </a:solidFill>
                <a:latin typeface="Arial"/>
              </a:rPr>
              <a:t>Regional conditions can change the strongest-performing season.</a:t>
            </a:r>
          </a:p>
          <a:p>
            <a:pPr>
              <a:lnSpc>
                <a:spcPct val="170000"/>
              </a:lnSpc>
              <a:spcAft>
                <a:spcPts val="600"/>
              </a:spcAft>
            </a:pPr>
            <a:r>
              <a:rPr lang="en-US" sz="1400" dirty="0">
                <a:solidFill>
                  <a:srgbClr val="282828"/>
                </a:solidFill>
                <a:latin typeface="Arial"/>
              </a:rPr>
              <a:t>Overall, Kharif was strong, but regional exceptions are important for planning.</a:t>
            </a:r>
          </a:p>
          <a:p>
            <a:endParaRPr lang="hi-IN" sz="1400" dirty="0"/>
          </a:p>
        </p:txBody>
      </p:sp>
      <p:pic>
        <p:nvPicPr>
          <p:cNvPr id="6" name="Picture 5">
            <a:extLst>
              <a:ext uri="{FF2B5EF4-FFF2-40B4-BE49-F238E27FC236}">
                <a16:creationId xmlns:a16="http://schemas.microsoft.com/office/drawing/2014/main" id="{85A1817C-82D4-4CC7-817C-1340EEA1E457}"/>
              </a:ext>
            </a:extLst>
          </p:cNvPr>
          <p:cNvPicPr>
            <a:picLocks noChangeAspect="1"/>
          </p:cNvPicPr>
          <p:nvPr/>
        </p:nvPicPr>
        <p:blipFill>
          <a:blip r:embed="rId3"/>
          <a:stretch>
            <a:fillRect/>
          </a:stretch>
        </p:blipFill>
        <p:spPr>
          <a:xfrm>
            <a:off x="6017474" y="1130997"/>
            <a:ext cx="5409514" cy="433053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7335" y="609600"/>
            <a:ext cx="8596668" cy="1151467"/>
          </a:xfrm>
        </p:spPr>
        <p:txBody>
          <a:bodyPr>
            <a:normAutofit/>
          </a:bodyPr>
          <a:lstStyle/>
          <a:p>
            <a:r>
              <a:rPr lang="en-IN" sz="4000" dirty="0">
                <a:solidFill>
                  <a:schemeClr val="accent2">
                    <a:lumMod val="75000"/>
                  </a:schemeClr>
                </a:solidFill>
                <a:latin typeface="Arial" panose="020B0604020202020204" pitchFamily="34" charset="0"/>
                <a:cs typeface="Arial" panose="020B0604020202020204" pitchFamily="34" charset="0"/>
              </a:rPr>
              <a:t>Future scope</a:t>
            </a:r>
          </a:p>
        </p:txBody>
      </p:sp>
      <p:sp>
        <p:nvSpPr>
          <p:cNvPr id="2" name="Text Placeholder 1">
            <a:extLst>
              <a:ext uri="{FF2B5EF4-FFF2-40B4-BE49-F238E27FC236}">
                <a16:creationId xmlns:a16="http://schemas.microsoft.com/office/drawing/2014/main" id="{4D7A7769-3C0F-4041-B14D-390102BCA924}"/>
              </a:ext>
            </a:extLst>
          </p:cNvPr>
          <p:cNvSpPr>
            <a:spLocks noGrp="1"/>
          </p:cNvSpPr>
          <p:nvPr>
            <p:ph type="body" idx="1"/>
          </p:nvPr>
        </p:nvSpPr>
        <p:spPr>
          <a:xfrm>
            <a:off x="677334" y="1734104"/>
            <a:ext cx="10431389" cy="4307258"/>
          </a:xfrm>
        </p:spPr>
        <p:txBody>
          <a:bodyPr>
            <a:normAutofit/>
          </a:bodyPr>
          <a:lstStyle/>
          <a:p>
            <a:pPr>
              <a:lnSpc>
                <a:spcPct val="150000"/>
              </a:lnSpc>
              <a:spcAft>
                <a:spcPts val="600"/>
              </a:spcAft>
            </a:pPr>
            <a:r>
              <a:rPr lang="en-US" sz="1800" dirty="0">
                <a:solidFill>
                  <a:srgbClr val="282828"/>
                </a:solidFill>
                <a:latin typeface="Arial"/>
              </a:rPr>
              <a:t>Extend the analysis with multi-year agricultural data to study long-term seasonal trends.</a:t>
            </a:r>
          </a:p>
          <a:p>
            <a:pPr>
              <a:lnSpc>
                <a:spcPct val="150000"/>
              </a:lnSpc>
              <a:spcAft>
                <a:spcPts val="600"/>
              </a:spcAft>
            </a:pPr>
            <a:r>
              <a:rPr lang="en-US" sz="1800" dirty="0">
                <a:solidFill>
                  <a:srgbClr val="282828"/>
                </a:solidFill>
                <a:latin typeface="Arial"/>
              </a:rPr>
              <a:t>Apply machine learning models to predict yield and profitability using multiple factors.</a:t>
            </a:r>
          </a:p>
          <a:p>
            <a:pPr>
              <a:lnSpc>
                <a:spcPct val="150000"/>
              </a:lnSpc>
              <a:spcAft>
                <a:spcPts val="600"/>
              </a:spcAft>
            </a:pPr>
            <a:r>
              <a:rPr lang="en-US" sz="1800" dirty="0">
                <a:solidFill>
                  <a:srgbClr val="282828"/>
                </a:solidFill>
                <a:latin typeface="Arial"/>
              </a:rPr>
              <a:t>Develop an interactive Power BI/Tableau dashboard for monitoring.</a:t>
            </a:r>
          </a:p>
          <a:p>
            <a:pPr>
              <a:lnSpc>
                <a:spcPct val="150000"/>
              </a:lnSpc>
              <a:spcAft>
                <a:spcPts val="600"/>
              </a:spcAft>
            </a:pPr>
            <a:r>
              <a:rPr lang="en-US" sz="1800" dirty="0">
                <a:solidFill>
                  <a:srgbClr val="282828"/>
                </a:solidFill>
                <a:latin typeface="Arial"/>
              </a:rPr>
              <a:t>Include market prices, input costs and weather forecasts for stronger economic analysis.</a:t>
            </a:r>
          </a:p>
          <a:p>
            <a:pPr>
              <a:lnSpc>
                <a:spcPct val="150000"/>
              </a:lnSpc>
              <a:spcAft>
                <a:spcPts val="600"/>
              </a:spcAft>
            </a:pPr>
            <a:r>
              <a:rPr lang="en-US" sz="1800" dirty="0">
                <a:solidFill>
                  <a:srgbClr val="282828"/>
                </a:solidFill>
                <a:latin typeface="Arial"/>
              </a:rPr>
              <a:t>Build region-specific models for localized crop and resource planning.</a:t>
            </a:r>
          </a:p>
          <a:p>
            <a:endParaRPr lang="hi-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11007418" cy="43072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7335" y="609600"/>
            <a:ext cx="8596668" cy="1427018"/>
          </a:xfrm>
        </p:spPr>
        <p:txBody>
          <a:bodyPr>
            <a:normAutofit/>
          </a:bodyPr>
          <a:lstStyle/>
          <a:p>
            <a:r>
              <a:rPr lang="en-IN" sz="4000" dirty="0">
                <a:solidFill>
                  <a:schemeClr val="accent2">
                    <a:lumMod val="75000"/>
                  </a:schemeClr>
                </a:solidFill>
                <a:latin typeface="Arial" panose="020B0604020202020204" pitchFamily="34" charset="0"/>
                <a:cs typeface="Arial" panose="020B0604020202020204" pitchFamily="34" charset="0"/>
              </a:rPr>
              <a:t>GitHub Link</a:t>
            </a:r>
          </a:p>
        </p:txBody>
      </p:sp>
      <p:sp>
        <p:nvSpPr>
          <p:cNvPr id="2" name="Text Placeholder 1">
            <a:extLst>
              <a:ext uri="{FF2B5EF4-FFF2-40B4-BE49-F238E27FC236}">
                <a16:creationId xmlns:a16="http://schemas.microsoft.com/office/drawing/2014/main" id="{4E1617D3-7986-43A2-A482-E108019B278E}"/>
              </a:ext>
            </a:extLst>
          </p:cNvPr>
          <p:cNvSpPr>
            <a:spLocks noGrp="1"/>
          </p:cNvSpPr>
          <p:nvPr>
            <p:ph type="body" idx="1"/>
          </p:nvPr>
        </p:nvSpPr>
        <p:spPr>
          <a:xfrm>
            <a:off x="677335" y="2475345"/>
            <a:ext cx="8596668" cy="1570962"/>
          </a:xfrm>
        </p:spPr>
        <p:txBody>
          <a:bodyPr>
            <a:normAutofit/>
          </a:bodyPr>
          <a:lstStyle/>
          <a:p>
            <a:r>
              <a:rPr lang="en-IN" sz="2400" dirty="0">
                <a:solidFill>
                  <a:schemeClr val="tx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https://github.com/adishukla10/Seasonal-Agriculture-Performance-Analysis.git</a:t>
            </a:r>
            <a:endParaRPr lang="hi-IN" sz="2400" dirty="0">
              <a:solidFill>
                <a:schemeClr val="tx1"/>
              </a:solidFill>
              <a:latin typeface="Arial" panose="020B0604020202020204" pitchFamily="34" charset="0"/>
            </a:endParaRP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9"/>
            <a:ext cx="10754043" cy="884658"/>
          </a:xfrm>
        </p:spPr>
        <p:txBody>
          <a:bodyPr>
            <a:normAutofit fontScale="90000"/>
          </a:bodyPr>
          <a:lstStyle/>
          <a:p>
            <a:r>
              <a:rPr lang="en-IN" sz="3200" dirty="0">
                <a:solidFill>
                  <a:schemeClr val="accent2">
                    <a:lumMod val="75000"/>
                  </a:schemeClr>
                </a:solidFill>
                <a:latin typeface="Arial" panose="020B0604020202020204" pitchFamily="34" charset="0"/>
                <a:cs typeface="Arial" panose="020B0604020202020204" pitchFamily="34" charset="0"/>
              </a:rPr>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07BB46E-498F-4B28-AAB5-88E133C6D09E}"/>
              </a:ext>
            </a:extLst>
          </p:cNvPr>
          <p:cNvPicPr>
            <a:picLocks noChangeAspect="1"/>
          </p:cNvPicPr>
          <p:nvPr/>
        </p:nvPicPr>
        <p:blipFill>
          <a:blip r:embed="rId3"/>
          <a:stretch>
            <a:fillRect/>
          </a:stretch>
        </p:blipFill>
        <p:spPr>
          <a:xfrm>
            <a:off x="1025610" y="1754659"/>
            <a:ext cx="9798908" cy="47327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2744881"/>
            <a:ext cx="10391025"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1293</TotalTime>
  <Words>653</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vt:lpstr>
      <vt:lpstr>WHO ARE THE END USERS?</vt:lpstr>
      <vt:lpstr>Technology Used</vt:lpstr>
      <vt:lpstr>RESULTS – SEASONAL PERFORMANCE  </vt:lpstr>
      <vt:lpstr>RESULTS – PROFITABILITY &amp; STATISTICAL SIGNIFICANCE </vt:lpstr>
      <vt:lpstr>RESULTS – WATER &amp; ENVIRONMENTAL ANALYSIS</vt:lpstr>
      <vt:lpstr>RESULTS - CROP-WISE SEASONAL PERFORMANCE</vt:lpstr>
      <vt:lpstr>RESULTS – REGIONAL VARIATION &amp; KEY EXCEPTIONS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Aditya Shukla</cp:lastModifiedBy>
  <cp:revision>109</cp:revision>
  <dcterms:created xsi:type="dcterms:W3CDTF">2021-07-11T13:13:15Z</dcterms:created>
  <dcterms:modified xsi:type="dcterms:W3CDTF">2026-09-10T08:44:40Z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